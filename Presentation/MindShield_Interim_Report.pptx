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1B2A4A"/>
                </a:solidFill>
                <a:latin typeface="Calibri"/>
              </a:rPr>
              <a:t>Tag-based validation: PII removal vs. clinical retention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PII removed %</c:v>
                </c:pt>
              </c:strCache>
            </c:strRef>
          </c:tx>
          <c:spPr>
            <a:solidFill>
              <a:srgbClr val="2FBF9F"/>
            </a:solidFill>
            <a:ln>
              <a:noFill/>
            </a:ln>
          </c:spPr>
          <c:cat>
            <c:strRef>
              <c:f>Sheet1!$A$2:$A$4</c:f>
              <c:strCache>
                <c:ptCount val="3"/>
                <c:pt idx="0">
                  <c:v>GPT-3.5-turbo</c:v>
                </c:pt>
                <c:pt idx="1">
                  <c:v>GPT-4o</c:v>
                </c:pt>
                <c:pt idx="2">
                  <c:v>NER baseline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66.5</c:v>
                </c:pt>
                <c:pt idx="1">
                  <c:v>64.5</c:v>
                </c:pt>
                <c:pt idx="2">
                  <c:v>53.5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Clinical content preserved %</c:v>
                </c:pt>
              </c:strCache>
            </c:strRef>
          </c:tx>
          <c:spPr>
            <a:solidFill>
              <a:srgbClr val="1B2A4A"/>
            </a:solidFill>
            <a:ln>
              <a:noFill/>
            </a:ln>
          </c:spPr>
          <c:cat>
            <c:strRef>
              <c:f>Sheet1!$A$2:$A$4</c:f>
              <c:strCache>
                <c:ptCount val="3"/>
                <c:pt idx="0">
                  <c:v>GPT-3.5-turbo</c:v>
                </c:pt>
                <c:pt idx="1">
                  <c:v>GPT-4o</c:v>
                </c:pt>
                <c:pt idx="2">
                  <c:v>NER baseline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99.6</c:v>
                </c:pt>
                <c:pt idx="1">
                  <c:v>99.8</c:v>
                </c:pt>
                <c:pt idx="2">
                  <c:v>68.1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9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FDCEA"/>
            </a:solidFill>
          </a:ln>
        </c:spPr>
        <c:txPr>
          <a:bodyPr/>
          <a:lstStyle/>
          <a:p>
            <a:pPr>
              <a:defRPr sz="1000">
                <a:solidFill>
                  <a:srgbClr val="1B2A4A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10.0"/>
          <c:min val="0.0"/>
        </c:scaling>
        <c:delete val="0"/>
        <c:axPos val="l"/>
        <c:majorGridlines>
          <c:spPr>
            <a:ln w="6350">
              <a:solidFill>
                <a:srgbClr val="CFDCEA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900">
                <a:solidFill>
                  <a:srgbClr val="5A6678"/>
                </a:solidFill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0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778240" y="-1280160"/>
            <a:ext cx="5029200" cy="5029200"/>
          </a:xfrm>
          <a:prstGeom prst="ellipse">
            <a:avLst/>
          </a:prstGeom>
          <a:solidFill>
            <a:srgbClr val="121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-548640"/>
            <a:ext cx="3474720" cy="3474720"/>
          </a:xfrm>
          <a:prstGeom prst="ellipse">
            <a:avLst/>
          </a:prstGeom>
          <a:solidFill>
            <a:srgbClr val="2235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9144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E8F76"/>
                </a:solidFill>
                <a:latin typeface="Calibri"/>
              </a:rPr>
              <a:t>MINDSHIELD  •  INTERIM PROJECT REPORT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371600"/>
            <a:ext cx="987552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FFFFFF"/>
                </a:solidFill>
                <a:latin typeface="Cambria"/>
              </a:rPr>
              <a:t>LLM-Based Anonymization of</a:t>
            </a:r>
          </a:p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FFFFFF"/>
                </a:solidFill>
                <a:latin typeface="Cambria"/>
              </a:rPr>
              <a:t>Psychiatric Medical Records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429000"/>
            <a:ext cx="8686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 i="1">
                <a:solidFill>
                  <a:srgbClr val="CFDCEA"/>
                </a:solidFill>
                <a:latin typeface="Calibri"/>
              </a:rPr>
              <a:t>Context-aware de-identification that removes extended PII while preserving clinical meaning.</a:t>
            </a:r>
          </a:p>
        </p:txBody>
      </p:sp>
      <p:sp>
        <p:nvSpPr>
          <p:cNvPr id="7" name="Oval 6"/>
          <p:cNvSpPr/>
          <p:nvPr/>
        </p:nvSpPr>
        <p:spPr>
          <a:xfrm>
            <a:off x="822960" y="4297680"/>
            <a:ext cx="502920" cy="502920"/>
          </a:xfrm>
          <a:prstGeom prst="ellipse">
            <a:avLst/>
          </a:prstGeom>
          <a:solidFill>
            <a:srgbClr val="2FB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4315968"/>
            <a:ext cx="3657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CFDCEA"/>
                </a:solidFill>
                <a:latin typeface="Calibri"/>
              </a:rPr>
              <a:t>Privacy-preserving · Clinically faithful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5074920"/>
            <a:ext cx="5669280" cy="1234440"/>
          </a:xfrm>
          <a:prstGeom prst="roundRect">
            <a:avLst>
              <a:gd name="adj" fmla="val 12000"/>
            </a:avLst>
          </a:prstGeom>
          <a:solidFill>
            <a:srgbClr val="121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5230368"/>
            <a:ext cx="5212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2FBF9F"/>
                </a:solidFill>
                <a:latin typeface="Calibri"/>
              </a:rPr>
              <a:t>TEAM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5504688"/>
            <a:ext cx="5212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FFFFFF"/>
                </a:solidFill>
                <a:latin typeface="Calibri"/>
              </a:rPr>
              <a:t>Uriel Atzmon  ·  Victoria Chuykina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5852160"/>
            <a:ext cx="5212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CFDCEA"/>
                </a:solidFill>
                <a:latin typeface="Calibri"/>
              </a:rPr>
              <a:t>Instructor: Alexander (Sasha) Apartsin, PhD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E8F76"/>
                </a:solidFill>
                <a:latin typeface="Calibri"/>
              </a:rPr>
              <a:t>01  —  PROJECT 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9144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1B2A4A"/>
                </a:solidFill>
                <a:latin typeface="Cambria"/>
              </a:rPr>
              <a:t>What we're building, and how we'll know it works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5394960" cy="4709160"/>
          </a:xfrm>
          <a:prstGeom prst="roundRect">
            <a:avLst>
              <a:gd name="adj" fmla="val 4000"/>
            </a:avLst>
          </a:prstGeom>
          <a:solidFill>
            <a:srgbClr val="E8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10512"/>
            <a:ext cx="4846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1B2A4A"/>
                </a:solidFill>
                <a:latin typeface="Calibri"/>
              </a:rPr>
              <a:t>DATA &amp; TASK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212848"/>
            <a:ext cx="4846320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28600" indent="-228600">
              <a:lnSpc>
                <a:spcPct val="108000"/>
              </a:lnSpc>
              <a:spcAft>
                <a:spcPts val="800"/>
              </a:spcAft>
              <a:buClr>
                <a:srgbClr val="1E8F76"/>
              </a:buClr>
              <a:buFont typeface="Arial"/>
              <a:buChar char="•"/>
            </a:pPr>
            <a:r>
              <a:rPr sz="1250">
                <a:solidFill>
                  <a:srgbClr val="1B2A4A"/>
                </a:solidFill>
                <a:latin typeface="Calibri"/>
              </a:rPr>
              <a:t>878 synthetic psychiatric intake records across 10 DSM-5 disorders</a:t>
            </a:r>
          </a:p>
          <a:p>
            <a:pPr marL="228600" indent="-228600">
              <a:lnSpc>
                <a:spcPct val="108000"/>
              </a:lnSpc>
              <a:spcAft>
                <a:spcPts val="800"/>
              </a:spcAft>
              <a:buClr>
                <a:srgbClr val="1E8F76"/>
              </a:buClr>
              <a:buFont typeface="Arial"/>
              <a:buChar char="•"/>
            </a:pPr>
            <a:r>
              <a:rPr sz="1250">
                <a:solidFill>
                  <a:srgbClr val="1B2A4A"/>
                </a:solidFill>
                <a:latin typeface="Calibri"/>
              </a:rPr>
              <a:t>Each record: therapist note + 10 personal Q&amp;A + 10 clinical Q&amp;A + span-tagged version</a:t>
            </a:r>
          </a:p>
          <a:p>
            <a:pPr marL="228600" indent="-228600">
              <a:lnSpc>
                <a:spcPct val="108000"/>
              </a:lnSpc>
              <a:spcAft>
                <a:spcPts val="800"/>
              </a:spcAft>
              <a:buClr>
                <a:srgbClr val="1E8F76"/>
              </a:buClr>
              <a:buFont typeface="Arial"/>
              <a:buChar char="•"/>
            </a:pPr>
            <a:r>
              <a:rPr sz="1250">
                <a:solidFill>
                  <a:srgbClr val="1B2A4A"/>
                </a:solidFill>
                <a:latin typeface="Calibri"/>
              </a:rPr>
              <a:t>Input: free text containing extended PII (ePII) — names, family, trauma, immigration, contact info</a:t>
            </a:r>
          </a:p>
          <a:p>
            <a:pPr marL="228600" indent="-228600">
              <a:lnSpc>
                <a:spcPct val="108000"/>
              </a:lnSpc>
              <a:spcAft>
                <a:spcPts val="800"/>
              </a:spcAft>
              <a:buClr>
                <a:srgbClr val="1E8F76"/>
              </a:buClr>
              <a:buFont typeface="Arial"/>
              <a:buChar char="•"/>
            </a:pPr>
            <a:r>
              <a:rPr sz="1250">
                <a:solidFill>
                  <a:srgbClr val="1B2A4A"/>
                </a:solidFill>
                <a:latin typeface="Calibri"/>
              </a:rPr>
              <a:t>Output: rewritten note with ePII removed, clinical content intact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4160520"/>
            <a:ext cx="4846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1B2A4A"/>
                </a:solidFill>
                <a:latin typeface="Calibri"/>
              </a:rPr>
              <a:t>NLP TASK TYPE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4526280"/>
            <a:ext cx="484632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28600" indent="-228600">
              <a:lnSpc>
                <a:spcPct val="108000"/>
              </a:lnSpc>
              <a:spcAft>
                <a:spcPts val="800"/>
              </a:spcAft>
              <a:buClr>
                <a:srgbClr val="1E8F76"/>
              </a:buClr>
              <a:buFont typeface="Arial"/>
              <a:buChar char="•"/>
            </a:pPr>
            <a:r>
              <a:rPr sz="1250">
                <a:solidFill>
                  <a:srgbClr val="1B2A4A"/>
                </a:solidFill>
                <a:latin typeface="Calibri"/>
              </a:rPr>
              <a:t>Controlled text rewriting (not classification or extraction)</a:t>
            </a:r>
          </a:p>
          <a:p>
            <a:pPr marL="228600" indent="-228600">
              <a:lnSpc>
                <a:spcPct val="108000"/>
              </a:lnSpc>
              <a:spcAft>
                <a:spcPts val="800"/>
              </a:spcAft>
              <a:buClr>
                <a:srgbClr val="1E8F76"/>
              </a:buClr>
              <a:buFont typeface="Arial"/>
              <a:buChar char="•"/>
            </a:pPr>
            <a:r>
              <a:rPr sz="1250">
                <a:solidFill>
                  <a:srgbClr val="1B2A4A"/>
                </a:solidFill>
                <a:latin typeface="Calibri"/>
              </a:rPr>
              <a:t>Context-aware redaction via rephrasing, not entity masking</a:t>
            </a:r>
          </a:p>
          <a:p>
            <a:pPr marL="228600" indent="-228600">
              <a:lnSpc>
                <a:spcPct val="108000"/>
              </a:lnSpc>
              <a:spcAft>
                <a:spcPts val="800"/>
              </a:spcAft>
              <a:buClr>
                <a:srgbClr val="1E8F76"/>
              </a:buClr>
              <a:buFont typeface="Arial"/>
              <a:buChar char="•"/>
            </a:pPr>
            <a:r>
              <a:rPr sz="1250">
                <a:solidFill>
                  <a:srgbClr val="1B2A4A"/>
                </a:solidFill>
                <a:latin typeface="Calibri"/>
              </a:rPr>
              <a:t>16 extended-PII categories — beyond the 18 standard HIPAA identifiers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63640" y="1810512"/>
            <a:ext cx="5394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1B2A4A"/>
                </a:solidFill>
                <a:latin typeface="Calibri"/>
              </a:rPr>
              <a:t>EVALUATION STRATEGY</a:t>
            </a:r>
          </a:p>
        </p:txBody>
      </p:sp>
      <p:sp>
        <p:nvSpPr>
          <p:cNvPr id="10" name="Oval 9"/>
          <p:cNvSpPr/>
          <p:nvPr/>
        </p:nvSpPr>
        <p:spPr>
          <a:xfrm>
            <a:off x="6263640" y="2212848"/>
            <a:ext cx="457200" cy="457200"/>
          </a:xfrm>
          <a:prstGeom prst="ellipse">
            <a:avLst/>
          </a:prstGeom>
          <a:solidFill>
            <a:srgbClr val="2FB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03720" y="2194560"/>
            <a:ext cx="4754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1B2A4A"/>
                </a:solidFill>
                <a:latin typeface="Calibri"/>
              </a:rPr>
              <a:t>Tag-based validation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03720" y="2523744"/>
            <a:ext cx="47548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5A6678"/>
                </a:solidFill>
                <a:latin typeface="Calibri"/>
              </a:rPr>
              <a:t>Exact-match check: were tagged PII spans removed? Were tagged clinical spans preserved?</a:t>
            </a:r>
          </a:p>
        </p:txBody>
      </p:sp>
      <p:sp>
        <p:nvSpPr>
          <p:cNvPr id="13" name="Oval 12"/>
          <p:cNvSpPr/>
          <p:nvPr/>
        </p:nvSpPr>
        <p:spPr>
          <a:xfrm>
            <a:off x="6263640" y="3264408"/>
            <a:ext cx="457200" cy="457200"/>
          </a:xfrm>
          <a:prstGeom prst="ellipse">
            <a:avLst/>
          </a:prstGeom>
          <a:solidFill>
            <a:srgbClr val="2FB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Q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03720" y="3246120"/>
            <a:ext cx="4754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1B2A4A"/>
                </a:solidFill>
                <a:latin typeface="Calibri"/>
              </a:rPr>
              <a:t>QA-based validation (planned)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03720" y="3575304"/>
            <a:ext cx="47548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5A6678"/>
                </a:solidFill>
                <a:latin typeface="Calibri"/>
              </a:rPr>
              <a:t>Re-ask the 20 personal/clinical questions against the anonymized text; score answer drift with BERTScore</a:t>
            </a:r>
          </a:p>
        </p:txBody>
      </p:sp>
      <p:sp>
        <p:nvSpPr>
          <p:cNvPr id="16" name="Oval 15"/>
          <p:cNvSpPr/>
          <p:nvPr/>
        </p:nvSpPr>
        <p:spPr>
          <a:xfrm>
            <a:off x="6263640" y="4315968"/>
            <a:ext cx="457200" cy="457200"/>
          </a:xfrm>
          <a:prstGeom prst="ellipse">
            <a:avLst/>
          </a:prstGeom>
          <a:solidFill>
            <a:srgbClr val="2FB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#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03720" y="4297680"/>
            <a:ext cx="4754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1B2A4A"/>
                </a:solidFill>
                <a:latin typeface="Calibri"/>
              </a:rPr>
              <a:t>Cross-model benchmark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03720" y="4626864"/>
            <a:ext cx="47548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5A6678"/>
                </a:solidFill>
                <a:latin typeface="Calibri"/>
              </a:rPr>
              <a:t>Compare 3+ pretrained models under the same prompt, plus a prompting-strategy ablation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63640" y="5394960"/>
            <a:ext cx="5394960" cy="914400"/>
          </a:xfrm>
          <a:prstGeom prst="roundRect">
            <a:avLst>
              <a:gd name="adj" fmla="val 8000"/>
            </a:avLst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37960" y="5532120"/>
            <a:ext cx="15544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 i="0">
                <a:solidFill>
                  <a:srgbClr val="2FBF9F"/>
                </a:solidFill>
                <a:latin typeface="Cambria"/>
              </a:rPr>
              <a:t>10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8120" y="5532120"/>
            <a:ext cx="35661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CFDCEA"/>
                </a:solidFill>
                <a:latin typeface="Calibri"/>
              </a:rPr>
              <a:t>extended-PII tag types annotated per note, spanning identity, family,</a:t>
            </a:r>
          </a:p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CFDCEA"/>
                </a:solidFill>
                <a:latin typeface="Calibri"/>
              </a:rPr>
              <a:t>trauma, and immigration history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36873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A6678"/>
                </a:solidFill>
                <a:latin typeface="Calibri"/>
              </a:rPr>
              <a:t>1 / 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E8F76"/>
                </a:solidFill>
                <a:latin typeface="Calibri"/>
              </a:rPr>
              <a:t>02  —  PRIOR ART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1B2A4A"/>
                </a:solidFill>
                <a:latin typeface="Cambria"/>
              </a:rPr>
              <a:t>Where LLM-based de-identification stands today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91640"/>
            <a:ext cx="11091672" cy="457200"/>
          </a:xfrm>
          <a:prstGeom prst="roundRect">
            <a:avLst>
              <a:gd name="adj" fmla="val 0"/>
            </a:avLst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91640"/>
            <a:ext cx="21031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Calibri"/>
              </a:rPr>
              <a:t>Source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71800" y="1691640"/>
            <a:ext cx="19659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Calibri"/>
              </a:rPr>
              <a:t>Approach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66360" y="1691640"/>
            <a:ext cx="1691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Calibri"/>
              </a:rPr>
              <a:t>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86600" y="1691640"/>
            <a:ext cx="1691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Calibri"/>
              </a:rPr>
              <a:t>Metric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006840" y="1691640"/>
            <a:ext cx="258775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Calibri"/>
              </a:rPr>
              <a:t>Key result → how we differ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240280"/>
            <a:ext cx="11091672" cy="1417320"/>
          </a:xfrm>
          <a:prstGeom prst="roundRect">
            <a:avLst>
              <a:gd name="adj" fmla="val 0"/>
            </a:avLst>
          </a:prstGeom>
          <a:solidFill>
            <a:srgbClr val="E8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331720"/>
            <a:ext cx="205740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1B2A4A"/>
                </a:solidFill>
                <a:latin typeface="Calibri"/>
              </a:rPr>
              <a:t>DeID-GPT</a:t>
            </a:r>
          </a:p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1B2A4A"/>
                </a:solidFill>
                <a:latin typeface="Calibri"/>
              </a:rPr>
              <a:t>(Liu et al., 2023)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71800" y="2331720"/>
            <a:ext cx="192024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1B2A4A"/>
                </a:solidFill>
                <a:latin typeface="Calibri"/>
              </a:rPr>
              <a:t>GPT-4, zero-shot entity</a:t>
            </a:r>
          </a:p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1B2A4A"/>
                </a:solidFill>
                <a:latin typeface="Calibri"/>
              </a:rPr>
              <a:t>masking of PHI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66360" y="2331720"/>
            <a:ext cx="164592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1B2A4A"/>
                </a:solidFill>
                <a:latin typeface="Calibri"/>
              </a:rPr>
              <a:t>General clinical</a:t>
            </a:r>
          </a:p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1B2A4A"/>
                </a:solidFill>
                <a:latin typeface="Calibri"/>
              </a:rPr>
              <a:t>notes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86600" y="2331720"/>
            <a:ext cx="164592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1B2A4A"/>
                </a:solidFill>
                <a:latin typeface="Calibri"/>
              </a:rPr>
              <a:t>Precision / recall</a:t>
            </a:r>
          </a:p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1B2A4A"/>
                </a:solidFill>
                <a:latin typeface="Calibri"/>
              </a:rPr>
              <a:t>on PHI spans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06840" y="2331720"/>
            <a:ext cx="2542032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1B2A4A"/>
                </a:solidFill>
                <a:latin typeface="Calibri"/>
              </a:rPr>
              <a:t>High-precision masking;</a:t>
            </a:r>
          </a:p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1B2A4A"/>
                </a:solidFill>
                <a:latin typeface="Calibri"/>
              </a:rPr>
              <a:t>no fine-tuning required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3657600"/>
            <a:ext cx="11091672" cy="1417320"/>
          </a:xfrm>
          <a:prstGeom prst="roundRect">
            <a:avLst>
              <a:gd name="adj" fmla="val 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749040"/>
            <a:ext cx="205740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1B2A4A"/>
                </a:solidFill>
                <a:latin typeface="Calibri"/>
              </a:rPr>
              <a:t>Evaluating GPT models for</a:t>
            </a:r>
          </a:p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1B2A4A"/>
                </a:solidFill>
                <a:latin typeface="Calibri"/>
              </a:rPr>
              <a:t>de-identification (Sci. Reports, 2025)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71800" y="3749040"/>
            <a:ext cx="192024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1B2A4A"/>
                </a:solidFill>
                <a:latin typeface="Calibri"/>
              </a:rPr>
              <a:t>GPT-3.5 / GPT-4 vs.</a:t>
            </a:r>
          </a:p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1B2A4A"/>
                </a:solidFill>
                <a:latin typeface="Calibri"/>
              </a:rPr>
              <a:t>clinician redaction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66360" y="3749040"/>
            <a:ext cx="164592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1B2A4A"/>
                </a:solidFill>
                <a:latin typeface="Calibri"/>
              </a:rPr>
              <a:t>General clinical</a:t>
            </a:r>
          </a:p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1B2A4A"/>
                </a:solidFill>
                <a:latin typeface="Calibri"/>
              </a:rPr>
              <a:t>notes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86600" y="3749040"/>
            <a:ext cx="164592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1B2A4A"/>
                </a:solidFill>
                <a:latin typeface="Calibri"/>
              </a:rPr>
              <a:t>Agreement with</a:t>
            </a:r>
          </a:p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1B2A4A"/>
                </a:solidFill>
                <a:latin typeface="Calibri"/>
              </a:rPr>
              <a:t>clinician redaction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06840" y="3749040"/>
            <a:ext cx="2542032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1B2A4A"/>
                </a:solidFill>
                <a:latin typeface="Calibri"/>
              </a:rPr>
              <a:t>Comparable to clinician</a:t>
            </a:r>
          </a:p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1B2A4A"/>
                </a:solidFill>
                <a:latin typeface="Calibri"/>
              </a:rPr>
              <a:t>redaction; no hallucination</a:t>
            </a:r>
          </a:p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1B2A4A"/>
                </a:solidFill>
                <a:latin typeface="Calibri"/>
              </a:rPr>
              <a:t>observed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074920"/>
            <a:ext cx="11091672" cy="1417320"/>
          </a:xfrm>
          <a:prstGeom prst="roundRect">
            <a:avLst>
              <a:gd name="adj" fmla="val 0"/>
            </a:avLst>
          </a:prstGeom>
          <a:solidFill>
            <a:srgbClr val="E8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5166360"/>
            <a:ext cx="205740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1B2A4A"/>
                </a:solidFill>
                <a:latin typeface="Calibri"/>
              </a:rPr>
              <a:t>LLMs-in-the-Loop: Expert</a:t>
            </a:r>
          </a:p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1B2A4A"/>
                </a:solidFill>
                <a:latin typeface="Calibri"/>
              </a:rPr>
              <a:t>Small Models (2024)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71800" y="5166360"/>
            <a:ext cx="192024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1B2A4A"/>
                </a:solidFill>
                <a:latin typeface="Calibri"/>
              </a:rPr>
              <a:t>Specialized multilingual</a:t>
            </a:r>
          </a:p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1B2A4A"/>
                </a:solidFill>
                <a:latin typeface="Calibri"/>
              </a:rPr>
              <a:t>NER de-id models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66360" y="5166360"/>
            <a:ext cx="164592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1B2A4A"/>
                </a:solidFill>
                <a:latin typeface="Calibri"/>
              </a:rPr>
              <a:t>Multilingual</a:t>
            </a:r>
          </a:p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1B2A4A"/>
                </a:solidFill>
                <a:latin typeface="Calibri"/>
              </a:rPr>
              <a:t>clinical text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86600" y="5166360"/>
            <a:ext cx="164592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1B2A4A"/>
                </a:solidFill>
                <a:latin typeface="Calibri"/>
              </a:rPr>
              <a:t>PHI detection</a:t>
            </a:r>
          </a:p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1B2A4A"/>
                </a:solidFill>
                <a:latin typeface="Calibri"/>
              </a:rPr>
              <a:t>F1-score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06840" y="5166360"/>
            <a:ext cx="2542032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1B2A4A"/>
                </a:solidFill>
                <a:latin typeface="Calibri"/>
              </a:rPr>
              <a:t>F1 = 0.953–0.978;</a:t>
            </a:r>
          </a:p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1B2A4A"/>
                </a:solidFill>
                <a:latin typeface="Calibri"/>
              </a:rPr>
              <a:t>outperforms general LLMs</a:t>
            </a:r>
          </a:p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1B2A4A"/>
                </a:solidFill>
                <a:latin typeface="Calibri"/>
              </a:rPr>
              <a:t>on detection alone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36873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A6678"/>
                </a:solidFill>
                <a:latin typeface="Calibri"/>
              </a:rPr>
              <a:t>2 / 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E8F76"/>
                </a:solidFill>
                <a:latin typeface="Calibri"/>
              </a:rPr>
              <a:t>03  —  PIPELINE &amp;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1B2A4A"/>
                </a:solidFill>
                <a:latin typeface="Cambria"/>
              </a:rPr>
              <a:t>Five stages, from synthetic data to validated anonymization</a:t>
            </a:r>
          </a:p>
        </p:txBody>
      </p:sp>
      <p:sp>
        <p:nvSpPr>
          <p:cNvPr id="4" name="Oval 3"/>
          <p:cNvSpPr/>
          <p:nvPr/>
        </p:nvSpPr>
        <p:spPr>
          <a:xfrm>
            <a:off x="548640" y="1801368"/>
            <a:ext cx="502920" cy="502920"/>
          </a:xfrm>
          <a:prstGeom prst="ellipse">
            <a:avLst/>
          </a:prstGeom>
          <a:solidFill>
            <a:srgbClr val="2FB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1691640"/>
            <a:ext cx="1920240" cy="932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1B2A4A"/>
                </a:solidFill>
                <a:latin typeface="Calibri"/>
              </a:rPr>
              <a:t>Data Generation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0" y="1691640"/>
            <a:ext cx="3246120" cy="822960"/>
          </a:xfrm>
          <a:prstGeom prst="roundRect">
            <a:avLst>
              <a:gd name="adj" fmla="val 6000"/>
            </a:avLst>
          </a:prstGeom>
          <a:solidFill>
            <a:srgbClr val="E8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64992" y="1746504"/>
            <a:ext cx="292608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1B2A4A"/>
                </a:solidFill>
                <a:latin typeface="Calibri"/>
              </a:rPr>
              <a:t>Sample personal + clinical Q&amp;A → synthetic intake note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29400" y="1691640"/>
            <a:ext cx="3246120" cy="822960"/>
          </a:xfrm>
          <a:prstGeom prst="roundRect">
            <a:avLst>
              <a:gd name="adj" fmla="val 6000"/>
            </a:avLst>
          </a:prstGeom>
          <a:solidFill>
            <a:srgbClr val="E8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93992" y="1746504"/>
            <a:ext cx="292608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1B2A4A"/>
                </a:solidFill>
                <a:latin typeface="Calibri"/>
              </a:rPr>
              <a:t>LLM prompting from DSM-5 criteria + ePII categories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1691640"/>
            <a:ext cx="1600200" cy="932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 i="1">
                <a:solidFill>
                  <a:srgbClr val="5A6678"/>
                </a:solidFill>
                <a:latin typeface="Calibri"/>
              </a:rPr>
              <a:t>Row count, disorder balance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00100" y="2624328"/>
            <a:ext cx="0" cy="146304"/>
          </a:xfrm>
          <a:prstGeom prst="line">
            <a:avLst/>
          </a:prstGeom>
          <a:ln w="25400">
            <a:solidFill>
              <a:srgbClr val="CFDC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548640" y="2843784"/>
            <a:ext cx="502920" cy="502920"/>
          </a:xfrm>
          <a:prstGeom prst="ellipse">
            <a:avLst/>
          </a:prstGeom>
          <a:solidFill>
            <a:srgbClr val="2FB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734056"/>
            <a:ext cx="1920240" cy="932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1B2A4A"/>
                </a:solidFill>
                <a:latin typeface="Calibri"/>
              </a:rPr>
              <a:t>Tagging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00400" y="2734056"/>
            <a:ext cx="3246120" cy="822960"/>
          </a:xfrm>
          <a:prstGeom prst="roundRect">
            <a:avLst>
              <a:gd name="adj" fmla="val 6000"/>
            </a:avLst>
          </a:prstGeom>
          <a:solidFill>
            <a:srgbClr val="E8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64992" y="2788920"/>
            <a:ext cx="292608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1B2A4A"/>
                </a:solidFill>
                <a:latin typeface="Calibri"/>
              </a:rPr>
              <a:t>Note → span-tagged note [[TAG:TEXT]]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29400" y="2734056"/>
            <a:ext cx="3246120" cy="822960"/>
          </a:xfrm>
          <a:prstGeom prst="roundRect">
            <a:avLst>
              <a:gd name="adj" fmla="val 6000"/>
            </a:avLst>
          </a:prstGeom>
          <a:solidFill>
            <a:srgbClr val="E8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93992" y="2788920"/>
            <a:ext cx="292608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1B2A4A"/>
                </a:solidFill>
                <a:latin typeface="Calibri"/>
              </a:rPr>
              <a:t>LLM span annotation, 16 tag types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0" y="2734056"/>
            <a:ext cx="1600200" cy="932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 i="1">
                <a:solidFill>
                  <a:srgbClr val="5A6678"/>
                </a:solidFill>
                <a:latin typeface="Calibri"/>
              </a:rPr>
              <a:t>Tag count &amp; type distribution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800100" y="3666744"/>
            <a:ext cx="0" cy="146304"/>
          </a:xfrm>
          <a:prstGeom prst="line">
            <a:avLst/>
          </a:prstGeom>
          <a:ln w="25400">
            <a:solidFill>
              <a:srgbClr val="CFDC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Oval 19"/>
          <p:cNvSpPr/>
          <p:nvPr/>
        </p:nvSpPr>
        <p:spPr>
          <a:xfrm>
            <a:off x="548640" y="3886200"/>
            <a:ext cx="502920" cy="502920"/>
          </a:xfrm>
          <a:prstGeom prst="ellipse">
            <a:avLst/>
          </a:prstGeom>
          <a:solidFill>
            <a:srgbClr val="2FB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34440" y="3776472"/>
            <a:ext cx="1920240" cy="932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1B2A4A"/>
                </a:solidFill>
                <a:latin typeface="Calibri"/>
              </a:rPr>
              <a:t>Anonymization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200400" y="3776472"/>
            <a:ext cx="3246120" cy="822960"/>
          </a:xfrm>
          <a:prstGeom prst="roundRect">
            <a:avLst>
              <a:gd name="adj" fmla="val 6000"/>
            </a:avLst>
          </a:prstGeom>
          <a:solidFill>
            <a:srgbClr val="E8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364992" y="3831336"/>
            <a:ext cx="292608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1B2A4A"/>
                </a:solidFill>
                <a:latin typeface="Calibri"/>
              </a:rPr>
              <a:t>Tagged / original note → rewritten note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629400" y="3776472"/>
            <a:ext cx="3246120" cy="822960"/>
          </a:xfrm>
          <a:prstGeom prst="roundRect">
            <a:avLst>
              <a:gd name="adj" fmla="val 6000"/>
            </a:avLst>
          </a:prstGeom>
          <a:solidFill>
            <a:srgbClr val="E8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793992" y="3831336"/>
            <a:ext cx="292608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1B2A4A"/>
                </a:solidFill>
                <a:latin typeface="Calibri"/>
              </a:rPr>
              <a:t>3+ models compared under one prompt (GPT-3.5, GPT-4o, NER); extending via Azure (Phi-4, DeepSeek, Llama-4, GPT-5-mini)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0" y="3776472"/>
            <a:ext cx="1600200" cy="932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 i="1">
                <a:solidFill>
                  <a:srgbClr val="5A6678"/>
                </a:solidFill>
                <a:latin typeface="Calibri"/>
              </a:rPr>
              <a:t>PII-removed % / clinical-retained %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00100" y="4709160"/>
            <a:ext cx="0" cy="146304"/>
          </a:xfrm>
          <a:prstGeom prst="line">
            <a:avLst/>
          </a:prstGeom>
          <a:ln w="25400">
            <a:solidFill>
              <a:srgbClr val="CFDC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Oval 27"/>
          <p:cNvSpPr/>
          <p:nvPr/>
        </p:nvSpPr>
        <p:spPr>
          <a:xfrm>
            <a:off x="548640" y="4928616"/>
            <a:ext cx="502920" cy="502920"/>
          </a:xfrm>
          <a:prstGeom prst="ellipse">
            <a:avLst/>
          </a:prstGeom>
          <a:solidFill>
            <a:srgbClr val="2FB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34440" y="4818888"/>
            <a:ext cx="1920240" cy="932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1B2A4A"/>
                </a:solidFill>
                <a:latin typeface="Calibri"/>
              </a:rPr>
              <a:t>Validation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200400" y="4818888"/>
            <a:ext cx="3246120" cy="822960"/>
          </a:xfrm>
          <a:prstGeom prst="roundRect">
            <a:avLst>
              <a:gd name="adj" fmla="val 6000"/>
            </a:avLst>
          </a:prstGeom>
          <a:solidFill>
            <a:srgbClr val="E8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364992" y="4873752"/>
            <a:ext cx="292608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1B2A4A"/>
                </a:solidFill>
                <a:latin typeface="Calibri"/>
              </a:rPr>
              <a:t>Anonymized note + tags/QA → quality scores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629400" y="4818888"/>
            <a:ext cx="3246120" cy="822960"/>
          </a:xfrm>
          <a:prstGeom prst="roundRect">
            <a:avLst>
              <a:gd name="adj" fmla="val 6000"/>
            </a:avLst>
          </a:prstGeom>
          <a:solidFill>
            <a:srgbClr val="E8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793992" y="4873752"/>
            <a:ext cx="292608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1B2A4A"/>
                </a:solidFill>
                <a:latin typeface="Calibri"/>
              </a:rPr>
              <a:t>Tag-based (done) + QA re-answer scored with BERTScore (planned)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58400" y="4818888"/>
            <a:ext cx="1600200" cy="932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 i="1">
                <a:solidFill>
                  <a:srgbClr val="5A6678"/>
                </a:solidFill>
                <a:latin typeface="Calibri"/>
              </a:rPr>
              <a:t>PII removal, clinical retention, QA delta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800100" y="5751576"/>
            <a:ext cx="0" cy="146304"/>
          </a:xfrm>
          <a:prstGeom prst="line">
            <a:avLst/>
          </a:prstGeom>
          <a:ln w="25400">
            <a:solidFill>
              <a:srgbClr val="CFDC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Oval 35"/>
          <p:cNvSpPr/>
          <p:nvPr/>
        </p:nvSpPr>
        <p:spPr>
          <a:xfrm>
            <a:off x="548640" y="5971032"/>
            <a:ext cx="502920" cy="502920"/>
          </a:xfrm>
          <a:prstGeom prst="ellipse">
            <a:avLst/>
          </a:prstGeom>
          <a:solidFill>
            <a:srgbClr val="2FB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234440" y="5861304"/>
            <a:ext cx="1920240" cy="932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1B2A4A"/>
                </a:solidFill>
                <a:latin typeface="Calibri"/>
              </a:rPr>
              <a:t>Prompting Strategy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3200400" y="5861304"/>
            <a:ext cx="3246120" cy="822960"/>
          </a:xfrm>
          <a:prstGeom prst="roundRect">
            <a:avLst>
              <a:gd name="adj" fmla="val 6000"/>
            </a:avLst>
          </a:prstGeom>
          <a:solidFill>
            <a:srgbClr val="E8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364992" y="5916168"/>
            <a:ext cx="292608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1B2A4A"/>
                </a:solidFill>
                <a:latin typeface="Calibri"/>
              </a:rPr>
              <a:t>One model, 3 prompt variants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629400" y="5861304"/>
            <a:ext cx="3246120" cy="822960"/>
          </a:xfrm>
          <a:prstGeom prst="roundRect">
            <a:avLst>
              <a:gd name="adj" fmla="val 6000"/>
            </a:avLst>
          </a:prstGeom>
          <a:solidFill>
            <a:srgbClr val="E8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793992" y="5916168"/>
            <a:ext cx="292608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1B2A4A"/>
                </a:solidFill>
                <a:latin typeface="Calibri"/>
              </a:rPr>
              <a:t>Instructional vs. few-shot vs. synthetic-identity rephrasing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058400" y="5861304"/>
            <a:ext cx="1600200" cy="932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 i="1">
                <a:solidFill>
                  <a:srgbClr val="5A6678"/>
                </a:solidFill>
                <a:latin typeface="Calibri"/>
              </a:rPr>
              <a:t>Which strategy best balances the trade-off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36873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A6678"/>
                </a:solidFill>
                <a:latin typeface="Calibri"/>
              </a:rPr>
              <a:t>3 / 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E8F76"/>
                </a:solidFill>
                <a:latin typeface="Calibri"/>
              </a:rPr>
              <a:t>04  —  EXPLORATORY ANALYSIS &amp; BASELINE EVALUATION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1B2A4A"/>
                </a:solidFill>
                <a:latin typeface="Cambria"/>
              </a:rPr>
              <a:t>878 synthetic records, 3 baseline anonymization methods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2514600" cy="1051560"/>
          </a:xfrm>
          <a:prstGeom prst="roundRect">
            <a:avLst>
              <a:gd name="adj" fmla="val 8000"/>
            </a:avLst>
          </a:prstGeom>
          <a:solidFill>
            <a:srgbClr val="E8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673352"/>
            <a:ext cx="21945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1B2A4A"/>
                </a:solidFill>
                <a:latin typeface="Cambria"/>
              </a:rPr>
              <a:t>878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240280"/>
            <a:ext cx="2194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5A6678"/>
                </a:solidFill>
                <a:latin typeface="Calibri"/>
              </a:rPr>
              <a:t>patients, 10 disorders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0" y="1600200"/>
            <a:ext cx="2514600" cy="1051560"/>
          </a:xfrm>
          <a:prstGeom prst="roundRect">
            <a:avLst>
              <a:gd name="adj" fmla="val 8000"/>
            </a:avLst>
          </a:prstGeom>
          <a:solidFill>
            <a:srgbClr val="E8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364992" y="1673352"/>
            <a:ext cx="21945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1B2A4A"/>
                </a:solidFill>
                <a:latin typeface="Cambria"/>
              </a:rPr>
              <a:t>172 ± 31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64992" y="2240280"/>
            <a:ext cx="2194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5A6678"/>
                </a:solidFill>
                <a:latin typeface="Calibri"/>
              </a:rPr>
              <a:t>words per note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852160" y="1600200"/>
            <a:ext cx="2514600" cy="1051560"/>
          </a:xfrm>
          <a:prstGeom prst="roundRect">
            <a:avLst>
              <a:gd name="adj" fmla="val 8000"/>
            </a:avLst>
          </a:prstGeom>
          <a:solidFill>
            <a:srgbClr val="E8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16752" y="1673352"/>
            <a:ext cx="21945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1B2A4A"/>
                </a:solidFill>
                <a:latin typeface="Cambria"/>
              </a:rPr>
              <a:t>9,013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16752" y="2240280"/>
            <a:ext cx="2194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5A6678"/>
                </a:solidFill>
                <a:latin typeface="Calibri"/>
              </a:rPr>
              <a:t>PII/clinical tags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503920" y="1600200"/>
            <a:ext cx="2514600" cy="1051560"/>
          </a:xfrm>
          <a:prstGeom prst="roundRect">
            <a:avLst>
              <a:gd name="adj" fmla="val 8000"/>
            </a:avLst>
          </a:prstGeom>
          <a:solidFill>
            <a:srgbClr val="E8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68512" y="1673352"/>
            <a:ext cx="21945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1B2A4A"/>
                </a:solidFill>
                <a:latin typeface="Cambria"/>
              </a:rPr>
              <a:t>79% / 21%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68512" y="2240280"/>
            <a:ext cx="2194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5A6678"/>
                </a:solidFill>
                <a:latin typeface="Calibri"/>
              </a:rPr>
              <a:t>personal vs. clinical tags</a:t>
            </a:r>
          </a:p>
        </p:txBody>
      </p:sp>
      <p:graphicFrame>
        <p:nvGraphicFramePr>
          <p:cNvPr id="16" name="Chart 15"/>
          <p:cNvGraphicFramePr>
            <a:graphicFrameLocks noGrp="1"/>
          </p:cNvGraphicFramePr>
          <p:nvPr/>
        </p:nvGraphicFramePr>
        <p:xfrm>
          <a:off x="548640" y="2971800"/>
          <a:ext cx="6949440" cy="3429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7772400" y="3063240"/>
            <a:ext cx="3886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1B2A4A"/>
                </a:solidFill>
                <a:latin typeface="Calibri"/>
              </a:rPr>
              <a:t>READING THE CHART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0" y="3429000"/>
            <a:ext cx="3886200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28600" indent="-228600">
              <a:lnSpc>
                <a:spcPct val="108000"/>
              </a:lnSpc>
              <a:spcAft>
                <a:spcPts val="1000"/>
              </a:spcAft>
              <a:buClr>
                <a:srgbClr val="1E8F76"/>
              </a:buClr>
              <a:buFont typeface="Arial"/>
              <a:buChar char="•"/>
            </a:pPr>
            <a:r>
              <a:rPr sz="1100">
                <a:solidFill>
                  <a:srgbClr val="1B2A4A"/>
                </a:solidFill>
                <a:latin typeface="Calibri"/>
              </a:rPr>
              <a:t>LLMs (GPT-3.5, GPT-4o) preserve clinical content almost perfectly (≥ 99.6%)</a:t>
            </a:r>
          </a:p>
          <a:p>
            <a:pPr marL="228600" indent="-228600">
              <a:lnSpc>
                <a:spcPct val="108000"/>
              </a:lnSpc>
              <a:spcAft>
                <a:spcPts val="1000"/>
              </a:spcAft>
              <a:buClr>
                <a:srgbClr val="1E8F76"/>
              </a:buClr>
              <a:buFont typeface="Arial"/>
              <a:buChar char="•"/>
            </a:pPr>
            <a:r>
              <a:rPr sz="1100">
                <a:solidFill>
                  <a:srgbClr val="1B2A4A"/>
                </a:solidFill>
                <a:latin typeface="Calibri"/>
              </a:rPr>
              <a:t>But only ~65% of tagged PII is fully removed under strict exact-match scoring</a:t>
            </a:r>
          </a:p>
          <a:p>
            <a:pPr marL="228600" indent="-228600">
              <a:lnSpc>
                <a:spcPct val="108000"/>
              </a:lnSpc>
              <a:spcAft>
                <a:spcPts val="1000"/>
              </a:spcAft>
              <a:buClr>
                <a:srgbClr val="1E8F76"/>
              </a:buClr>
              <a:buFont typeface="Arial"/>
              <a:buChar char="•"/>
            </a:pPr>
            <a:r>
              <a:rPr sz="1100">
                <a:solidFill>
                  <a:srgbClr val="1B2A4A"/>
                </a:solidFill>
                <a:latin typeface="Calibri"/>
              </a:rPr>
              <a:t>NER baseline masks entities blindly — worse on both axes, especially clinical retention (68.1%)</a:t>
            </a:r>
          </a:p>
          <a:p>
            <a:pPr marL="228600" indent="-228600">
              <a:lnSpc>
                <a:spcPct val="108000"/>
              </a:lnSpc>
              <a:spcAft>
                <a:spcPts val="1000"/>
              </a:spcAft>
              <a:buClr>
                <a:srgbClr val="1E8F76"/>
              </a:buClr>
              <a:buFont typeface="Arial"/>
              <a:buChar char="•"/>
            </a:pPr>
            <a:r>
              <a:rPr sz="1100">
                <a:solidFill>
                  <a:srgbClr val="1B2A4A"/>
                </a:solidFill>
                <a:latin typeface="Calibri"/>
              </a:rPr>
              <a:t>119/878 GPT-4o rows errored (API) — excluded from these percentages; noted as a limitation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6873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A6678"/>
                </a:solidFill>
                <a:latin typeface="Calibri"/>
              </a:rPr>
              <a:t>4 /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E8F76"/>
                </a:solidFill>
                <a:latin typeface="Calibri"/>
              </a:rPr>
              <a:t>05  —  INSIGHTS &amp; RECOMMENDATIONS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FFFFFF"/>
                </a:solidFill>
                <a:latin typeface="Cambria"/>
              </a:rPr>
              <a:t>What the baseline tells us, and where we go 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5212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FBF9F"/>
                </a:solidFill>
                <a:latin typeface="Calibri"/>
              </a:rPr>
              <a:t>KEY INSIGHTS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011680"/>
            <a:ext cx="5212080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28600" indent="-228600">
              <a:lnSpc>
                <a:spcPct val="115000"/>
              </a:lnSpc>
              <a:spcAft>
                <a:spcPts val="1400"/>
              </a:spcAft>
              <a:buClr>
                <a:srgbClr val="2FBF9F"/>
              </a:buClr>
              <a:buFont typeface="Arial"/>
              <a:buChar char="•"/>
            </a:pPr>
            <a:r>
              <a:rPr sz="1250">
                <a:solidFill>
                  <a:srgbClr val="CFDCEA"/>
                </a:solidFill>
                <a:latin typeface="Calibri"/>
              </a:rPr>
              <a:t>Rephrasing-based LLM anonymization preserves clinical meaning far better than entity masking (99.7% vs. 68.1%)</a:t>
            </a:r>
          </a:p>
          <a:p>
            <a:pPr marL="228600" indent="-228600">
              <a:lnSpc>
                <a:spcPct val="115000"/>
              </a:lnSpc>
              <a:spcAft>
                <a:spcPts val="1400"/>
              </a:spcAft>
              <a:buClr>
                <a:srgbClr val="2FBF9F"/>
              </a:buClr>
              <a:buFont typeface="Arial"/>
              <a:buChar char="•"/>
            </a:pPr>
            <a:r>
              <a:rPr sz="1250">
                <a:solidFill>
                  <a:srgbClr val="CFDCEA"/>
                </a:solidFill>
                <a:latin typeface="Calibri"/>
              </a:rPr>
              <a:t>PII removal (~65%) lags clinical retention — our exact-match scoring is strict, and the current prompt under-redacts some tagged spans</a:t>
            </a:r>
          </a:p>
          <a:p>
            <a:pPr marL="228600" indent="-228600">
              <a:lnSpc>
                <a:spcPct val="115000"/>
              </a:lnSpc>
              <a:spcAft>
                <a:spcPts val="1400"/>
              </a:spcAft>
              <a:buClr>
                <a:srgbClr val="2FBF9F"/>
              </a:buClr>
              <a:buFont typeface="Arial"/>
              <a:buChar char="•"/>
            </a:pPr>
            <a:r>
              <a:rPr sz="1250">
                <a:solidFill>
                  <a:srgbClr val="CFDCEA"/>
                </a:solidFill>
                <a:latin typeface="Calibri"/>
              </a:rPr>
              <a:t>CONTACT, NAME, and LOCATION dominate the personal-tag distribution — highest-value redaction targets</a:t>
            </a:r>
          </a:p>
          <a:p>
            <a:pPr marL="228600" indent="-228600">
              <a:lnSpc>
                <a:spcPct val="115000"/>
              </a:lnSpc>
              <a:spcAft>
                <a:spcPts val="1400"/>
              </a:spcAft>
              <a:buClr>
                <a:srgbClr val="2FBF9F"/>
              </a:buClr>
              <a:buFont typeface="Arial"/>
              <a:buChar char="•"/>
            </a:pPr>
            <a:r>
              <a:rPr sz="1250">
                <a:solidFill>
                  <a:srgbClr val="CFDCEA"/>
                </a:solidFill>
                <a:latin typeface="Calibri"/>
              </a:rPr>
              <a:t>GPT-4o's 13.6% error rate is an infrastructure issue (API), not a model-quality signal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72200" y="16002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FBF9F"/>
                </a:solidFill>
                <a:latin typeface="Calibri"/>
              </a:rPr>
              <a:t>NEXT STEPS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2011680"/>
            <a:ext cx="5486400" cy="932688"/>
          </a:xfrm>
          <a:prstGeom prst="roundRect">
            <a:avLst>
              <a:gd name="adj" fmla="val 10000"/>
            </a:avLst>
          </a:prstGeom>
          <a:solidFill>
            <a:srgbClr val="121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355080" y="2231136"/>
            <a:ext cx="502920" cy="502920"/>
          </a:xfrm>
          <a:prstGeom prst="ellipse">
            <a:avLst/>
          </a:prstGeom>
          <a:solidFill>
            <a:srgbClr val="2FB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95160" y="2139696"/>
            <a:ext cx="44805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FFFFFF"/>
                </a:solidFill>
                <a:latin typeface="Calibri"/>
              </a:rPr>
              <a:t>Fix GPT-4o error rows; scale the synthetic dataset further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3090672"/>
            <a:ext cx="5486400" cy="932688"/>
          </a:xfrm>
          <a:prstGeom prst="roundRect">
            <a:avLst>
              <a:gd name="adj" fmla="val 10000"/>
            </a:avLst>
          </a:prstGeom>
          <a:solidFill>
            <a:srgbClr val="121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355080" y="3310128"/>
            <a:ext cx="502920" cy="502920"/>
          </a:xfrm>
          <a:prstGeom prst="ellipse">
            <a:avLst/>
          </a:prstGeom>
          <a:solidFill>
            <a:srgbClr val="2FB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95160" y="3218688"/>
            <a:ext cx="44805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FFFFFF"/>
                </a:solidFill>
                <a:latin typeface="Calibri"/>
              </a:rPr>
              <a:t>Implement QA re-answering validation (re-ask CQ/PQ on anonymized text, score with BERTScore) as specified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4169664"/>
            <a:ext cx="5486400" cy="932688"/>
          </a:xfrm>
          <a:prstGeom prst="roundRect">
            <a:avLst>
              <a:gd name="adj" fmla="val 10000"/>
            </a:avLst>
          </a:prstGeom>
          <a:solidFill>
            <a:srgbClr val="121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355080" y="4389120"/>
            <a:ext cx="502920" cy="502920"/>
          </a:xfrm>
          <a:prstGeom prst="ellipse">
            <a:avLst/>
          </a:prstGeom>
          <a:solidFill>
            <a:srgbClr val="2FB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95160" y="4297680"/>
            <a:ext cx="44805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FFFFFF"/>
                </a:solidFill>
                <a:latin typeface="Calibri"/>
              </a:rPr>
              <a:t>Compare prompting strategies — few-shot and synthetic-identity rephrasing — on a fixed model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5248656"/>
            <a:ext cx="5486400" cy="932688"/>
          </a:xfrm>
          <a:prstGeom prst="roundRect">
            <a:avLst>
              <a:gd name="adj" fmla="val 10000"/>
            </a:avLst>
          </a:prstGeom>
          <a:solidFill>
            <a:srgbClr val="121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355080" y="5468112"/>
            <a:ext cx="502920" cy="502920"/>
          </a:xfrm>
          <a:prstGeom prst="ellipse">
            <a:avLst/>
          </a:prstGeom>
          <a:solidFill>
            <a:srgbClr val="2FB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95160" y="5376672"/>
            <a:ext cx="44805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FFFFFF"/>
                </a:solidFill>
                <a:latin typeface="Calibri"/>
              </a:rPr>
              <a:t>Broaden the model benchmark via Azure AI Foundry: Phi-4, DeepSeek, Llama-4, GPT-5-mini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6873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CFDCEA"/>
                </a:solidFill>
                <a:latin typeface="Calibri"/>
              </a:rPr>
              <a:t>5 / 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