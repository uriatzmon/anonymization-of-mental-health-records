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B2A4A"/>
                </a:solidFill>
                <a:latin typeface="Calibri"/>
              </a:rPr>
              <a:t>Tag-based validation: PII removal vs. clinical retention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PII removed %</c:v>
                </c:pt>
              </c:strCache>
            </c:strRef>
          </c:tx>
          <c:spPr>
            <a:solidFill>
              <a:srgbClr val="2FBF9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GPT-3.5-turbo</c:v>
                </c:pt>
                <c:pt idx="1">
                  <c:v>GPT-4o</c:v>
                </c:pt>
                <c:pt idx="2">
                  <c:v>NER baseline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66.5</c:v>
                </c:pt>
                <c:pt idx="1">
                  <c:v>64.5</c:v>
                </c:pt>
                <c:pt idx="2">
                  <c:v>53.5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Clinical content preserved %</c:v>
                </c:pt>
              </c:strCache>
            </c:strRef>
          </c:tx>
          <c:spPr>
            <a:solidFill>
              <a:srgbClr val="1B2A4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GPT-3.5-turbo</c:v>
                </c:pt>
                <c:pt idx="1">
                  <c:v>GPT-4o</c:v>
                </c:pt>
                <c:pt idx="2">
                  <c:v>NER baseline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99.6</c:v>
                </c:pt>
                <c:pt idx="1">
                  <c:v>99.8</c:v>
                </c:pt>
                <c:pt idx="2">
                  <c:v>68.1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FDCEA"/>
            </a:solidFill>
          </a:ln>
        </c:spPr>
        <c:txPr>
          <a:bodyPr/>
          <a:lstStyle/>
          <a:p>
            <a:pPr>
              <a:defRPr sz="1000">
                <a:solidFill>
                  <a:srgbClr val="1B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6350">
              <a:solidFill>
                <a:srgbClr val="CFDC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67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3474720" cy="3474720"/>
          </a:xfrm>
          <a:prstGeom prst="ellipse">
            <a:avLst/>
          </a:prstGeom>
          <a:solidFill>
            <a:srgbClr val="22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MINDSHIELD  •  INTERIM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LLM-Based Anonymization of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Psychiatric Medical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CFDCEA"/>
                </a:solidFill>
                <a:latin typeface="Calibri"/>
              </a:rPr>
              <a:t>Context-aware de-identification that removes extended PII while preserving clinical meaning.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3159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CEA"/>
                </a:solidFill>
                <a:latin typeface="Calibri"/>
              </a:rPr>
              <a:t>Privacy-preserving · Clinically faithful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5669280" cy="1234440"/>
          </a:xfrm>
          <a:prstGeom prst="roundRect">
            <a:avLst>
              <a:gd name="adj" fmla="val 12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2303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BF9F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04688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Uriel Atzmon  ·  Victoria Chuykina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52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FDCEA"/>
                </a:solidFill>
                <a:latin typeface="Calibri"/>
              </a:rPr>
              <a:t>Instructor: Alexander (Sasha) Apartsin,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01  —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What we're building, and how we'll know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DATA &amp;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878 synthetic psychiatric intake records across 10 DSM-5 disorders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Each record: therapist note + 10 personal Q&amp;A + 10 clinical Q&amp;A + span-tagged version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Input: free text containing extended PII (ePII) — names, family, trauma, immigration, contact info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Output: rewritten note with ePII removed, clinical content intact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NLP TASK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Controlled text rewriting (not classification or extraction)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Context-aware redaction via rephrasing, not entity masking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Clr>
                <a:srgbClr val="1E8F76"/>
              </a:buClr>
              <a:buFont typeface="Arial"/>
              <a:buChar char="•"/>
            </a:pPr>
            <a:r>
              <a:rPr sz="1250">
                <a:solidFill>
                  <a:srgbClr val="1B2A4A"/>
                </a:solidFill>
                <a:latin typeface="Calibri"/>
              </a:rPr>
              <a:t>16 extended-PII categories — beyond the 18 standard HIPAA identifiers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105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EVALUATION STRATEGY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212848"/>
            <a:ext cx="457200" cy="45720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945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Tag-based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23744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678"/>
                </a:solidFill>
                <a:latin typeface="Calibri"/>
              </a:rPr>
              <a:t>Exact-match check: were tagged PII spans removed? Were tagged clinical spans preserved?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3264408"/>
            <a:ext cx="457200" cy="45720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2461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QA-based validation (planned)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75304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678"/>
                </a:solidFill>
                <a:latin typeface="Calibri"/>
              </a:rPr>
              <a:t>Re-ask the 20 personal/clinical questions against the anonymized text; score answer drift with BERTScore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4315968"/>
            <a:ext cx="457200" cy="45720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29768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Cross-model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626864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678"/>
                </a:solidFill>
                <a:latin typeface="Calibri"/>
              </a:rPr>
              <a:t>Compare 3+ pretrained models under the same prompt, plus a prompting-strategy ablation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5394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553212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FBF9F"/>
                </a:solidFill>
                <a:latin typeface="Cambria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532120"/>
            <a:ext cx="3566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FDCEA"/>
                </a:solidFill>
                <a:latin typeface="Calibri"/>
              </a:rPr>
              <a:t>extended-PII tag types annotated per note, spanning identity, family,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FDCEA"/>
                </a:solidFill>
                <a:latin typeface="Calibri"/>
              </a:rPr>
              <a:t>trauma, and immigration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02  —  PRIOR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Where LLM-based de-identification stands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1672" cy="457200"/>
          </a:xfrm>
          <a:prstGeom prst="roundRect">
            <a:avLst>
              <a:gd name="adj" fmla="val 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69164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69164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69164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691640"/>
            <a:ext cx="25877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result → how we differ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1091672" cy="1417320"/>
          </a:xfrm>
          <a:prstGeom prst="roundRect">
            <a:avLst>
              <a:gd name="adj" fmla="val 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2057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DeID-GPT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(Liu et al., 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331720"/>
            <a:ext cx="1920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GPT-4, zero-shot entity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masking of PHI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31720"/>
            <a:ext cx="1645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General clinical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331720"/>
            <a:ext cx="1645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Precision / recall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on PHI spans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31720"/>
            <a:ext cx="254203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High-precision masking;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no fine-tuning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11091672" cy="14173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40"/>
            <a:ext cx="2057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Evaluating GPT models for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de-identification (Sci. Reports,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749040"/>
            <a:ext cx="1920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GPT-3.5 / GPT-4 vs.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clinician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749040"/>
            <a:ext cx="1645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General clinical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49040"/>
            <a:ext cx="1645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Agreement with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clinician redaction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749040"/>
            <a:ext cx="254203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Comparable to clinician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redaction; no hallucination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observed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2057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LLMs-in-the-Loop: Expert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Small Models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166360"/>
            <a:ext cx="1920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Specialized multilingual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NER de-id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5166360"/>
            <a:ext cx="1645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Multilingual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clinical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166360"/>
            <a:ext cx="1645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PHI detection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F1-score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5166360"/>
            <a:ext cx="254203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F1 = 0.953–0.978;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outperforms general LLMs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on detection alone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03  —  PIPELINE &amp;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Five stages, from synthetic data to validated anonymization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01368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19202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Data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9164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64992" y="1746504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Sample personal + clinical Q&amp;A → synthetic intake note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91640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46504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LLM prompting from DSM-5 criteria + ePII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691640"/>
            <a:ext cx="1600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Row count, disorder balance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" y="2624328"/>
            <a:ext cx="0" cy="146304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48640" y="2843784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34056"/>
            <a:ext cx="19202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Tagging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734056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2788920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Note → span-tagged note [[TAG:TEXT]]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734056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2788920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LLM span annotation, 16 tag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734056"/>
            <a:ext cx="1600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Tag count &amp; type distribution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" y="3666744"/>
            <a:ext cx="0" cy="146304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76472"/>
            <a:ext cx="19202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Anonymization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776472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3831336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Tagged / original note → rewritten note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776472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831336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3+ models compared under one prompt (GPT-3.5, GPT-4o, NER); extending via Azure (Phi-4, DeepSeek, Llama-4, GPT-5-mini)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776472"/>
            <a:ext cx="1600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PII-removed % / clinical-retained 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0100" y="4709160"/>
            <a:ext cx="0" cy="146304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818888"/>
            <a:ext cx="19202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818888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4873752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Anonymized note + tags/QA → quality scores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4818888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4873752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Tag-based (done) + QA re-answer scored with BERTScore (planned)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818888"/>
            <a:ext cx="1600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PII removal, clinical retention, QA delta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0100" y="5751576"/>
            <a:ext cx="0" cy="146304"/>
          </a:xfrm>
          <a:prstGeom prst="line">
            <a:avLst/>
          </a:prstGeom>
          <a:ln w="25400">
            <a:solidFill>
              <a:srgbClr val="CF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48640" y="5971032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861304"/>
            <a:ext cx="19202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Prompting Strategy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5861304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4992" y="5916168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One model, 3 prompt variants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5861304"/>
            <a:ext cx="3246120" cy="82296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93992" y="5916168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A"/>
                </a:solidFill>
                <a:latin typeface="Calibri"/>
              </a:rPr>
              <a:t>Instructional vs. few-shot vs. synthetic-identity rephrasing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861304"/>
            <a:ext cx="16002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A6678"/>
                </a:solidFill>
                <a:latin typeface="Calibri"/>
              </a:rPr>
              <a:t>Which strategy best balances the trade-off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04  —  EXPLORATORY ANALYSIS &amp; BASELINE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878 synthetic records, 3 baseline anonymization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733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878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patients, 10 disorders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002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16733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172 ±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2402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words per note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6002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6733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9,013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22402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PII/clinical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60020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167335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A"/>
                </a:solidFill>
                <a:latin typeface="Cambria"/>
              </a:rPr>
              <a:t>79% / 21%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2402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6678"/>
                </a:solidFill>
                <a:latin typeface="Calibri"/>
              </a:rPr>
              <a:t>personal vs. clinical tags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2971800"/>
          <a:ext cx="69494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72400" y="306324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READING THE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29000"/>
            <a:ext cx="3886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1E8F76"/>
              </a:buClr>
              <a:buFont typeface="Arial"/>
              <a:buChar char="•"/>
            </a:pPr>
            <a:r>
              <a:rPr sz="1100">
                <a:solidFill>
                  <a:srgbClr val="1B2A4A"/>
                </a:solidFill>
                <a:latin typeface="Calibri"/>
              </a:rPr>
              <a:t>LLMs (GPT-3.5, GPT-4o) preserve clinical content almost perfectly (≥ 99.6%)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1E8F76"/>
              </a:buClr>
              <a:buFont typeface="Arial"/>
              <a:buChar char="•"/>
            </a:pPr>
            <a:r>
              <a:rPr sz="1100">
                <a:solidFill>
                  <a:srgbClr val="1B2A4A"/>
                </a:solidFill>
                <a:latin typeface="Calibri"/>
              </a:rPr>
              <a:t>But only ~65% of tagged PII is fully removed under strict exact-match scoring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1E8F76"/>
              </a:buClr>
              <a:buFont typeface="Arial"/>
              <a:buChar char="•"/>
            </a:pPr>
            <a:r>
              <a:rPr sz="1100">
                <a:solidFill>
                  <a:srgbClr val="1B2A4A"/>
                </a:solidFill>
                <a:latin typeface="Calibri"/>
              </a:rPr>
              <a:t>NER baseline masks entities blindly — worse on both axes, especially clinical retention (68.1%)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Clr>
                <a:srgbClr val="1E8F76"/>
              </a:buClr>
              <a:buFont typeface="Arial"/>
              <a:buChar char="•"/>
            </a:pPr>
            <a:r>
              <a:rPr sz="1100">
                <a:solidFill>
                  <a:srgbClr val="1B2A4A"/>
                </a:solidFill>
                <a:latin typeface="Calibri"/>
              </a:rPr>
              <a:t>119/878 GPT-4o rows errored (API) — excluded from these percentages; noted as a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8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8F76"/>
                </a:solidFill>
                <a:latin typeface="Calibri"/>
              </a:rPr>
              <a:t>05  — 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What the baseline tells us, and where we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BF9F"/>
                </a:solidFill>
                <a:latin typeface="Calibri"/>
              </a:rP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2FBF9F"/>
              </a:buClr>
              <a:buFont typeface="Arial"/>
              <a:buChar char="•"/>
            </a:pPr>
            <a:r>
              <a:rPr sz="1250">
                <a:solidFill>
                  <a:srgbClr val="CFDCEA"/>
                </a:solidFill>
                <a:latin typeface="Calibri"/>
              </a:rPr>
              <a:t>Rephrasing-based LLM anonymization preserves clinical meaning far better than entity masking (99.7% vs. 68.1%)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2FBF9F"/>
              </a:buClr>
              <a:buFont typeface="Arial"/>
              <a:buChar char="•"/>
            </a:pPr>
            <a:r>
              <a:rPr sz="1250">
                <a:solidFill>
                  <a:srgbClr val="CFDCEA"/>
                </a:solidFill>
                <a:latin typeface="Calibri"/>
              </a:rPr>
              <a:t>PII removal (~65%) lags clinical retention — our exact-match scoring is strict, and the current prompt under-redacts some tagged spans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2FBF9F"/>
              </a:buClr>
              <a:buFont typeface="Arial"/>
              <a:buChar char="•"/>
            </a:pPr>
            <a:r>
              <a:rPr sz="1250">
                <a:solidFill>
                  <a:srgbClr val="CFDCEA"/>
                </a:solidFill>
                <a:latin typeface="Calibri"/>
              </a:rPr>
              <a:t>CONTACT, NAME, and LOCATION dominate the personal-tag distribution — highest-value redaction targets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Clr>
                <a:srgbClr val="2FBF9F"/>
              </a:buClr>
              <a:buFont typeface="Arial"/>
              <a:buChar char="•"/>
            </a:pPr>
            <a:r>
              <a:rPr sz="1250">
                <a:solidFill>
                  <a:srgbClr val="CFDCEA"/>
                </a:solidFill>
                <a:latin typeface="Calibri"/>
              </a:rPr>
              <a:t>GPT-4o's 13.6% error rate is an infrastructure issue (API), not a model-quality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00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BF9F"/>
                </a:solidFill>
                <a:latin typeface="Calibri"/>
              </a:rPr>
              <a:t>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11680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5080" y="2231136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139696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Fix GPT-4o error rows; scale the dataset toward the 5,000-patient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090672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3310128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218688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Implement QA re-answering validation (re-ask CQ/PQ on anonymized text, score with BERTScore) as specified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69664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4389120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97680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Compare prompting strategies — few-shot and synthetic-identity rephrasing — on a fixed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248656"/>
            <a:ext cx="5486400" cy="932688"/>
          </a:xfrm>
          <a:prstGeom prst="roundRect">
            <a:avLst>
              <a:gd name="adj" fmla="val 10000"/>
            </a:avLst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5468112"/>
            <a:ext cx="502920" cy="502920"/>
          </a:xfrm>
          <a:prstGeom prst="ellipse">
            <a:avLst/>
          </a:prstGeom>
          <a:solidFill>
            <a:srgbClr val="2F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376672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Broaden the model benchmark via Azure AI Foundry: Phi-4, DeepSeek, Llama-4, GPT-5-mini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FDCEA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