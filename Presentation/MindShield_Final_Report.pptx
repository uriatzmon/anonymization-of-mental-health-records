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_rels/chart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2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title>
      <c:tx>
        <c:rich>
          <a:bodyPr/>
          <a:lstStyle/>
          <a:p>
            <a:r>
              <a:rPr sz="1300" b="1">
                <a:solidFill>
                  <a:srgbClr val="1B2A4A"/>
                </a:solidFill>
                <a:latin typeface="Calibri"/>
              </a:rPr>
              <a:t>PII removal vs. clinical retention, by model / prompt</a:t>
            </a:r>
          </a:p>
        </c:rich>
      </c:tx>
      <c:layout/>
      <c:overlay val="0"/>
    </c:title>
    <c:autoTitleDeleted val="0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PII removed %</c:v>
                </c:pt>
              </c:strCache>
            </c:strRef>
          </c:tx>
          <c:spPr>
            <a:solidFill>
              <a:srgbClr val="2FBF9F"/>
            </a:solidFill>
            <a:ln>
              <a:noFill/>
            </a:ln>
          </c:spPr>
          <c:cat>
            <c:strRef>
              <c:f>Sheet1!$A$2:$A$8</c:f>
              <c:strCache>
                <c:ptCount val="7"/>
                <c:pt idx="0">
                  <c:v>GPT-3.5</c:v>
                </c:pt>
                <c:pt idx="1">
                  <c:v>GPT-4o</c:v>
                </c:pt>
                <c:pt idx="2">
                  <c:v>NER</c:v>
                </c:pt>
                <c:pt idx="3">
                  <c:v>DeepSeek
-V4-Pro</c:v>
                </c:pt>
                <c:pt idx="4">
                  <c:v>Llama-4
(instr.)</c:v>
                </c:pt>
                <c:pt idx="5">
                  <c:v>Llama-4
(few-shot)</c:v>
                </c:pt>
                <c:pt idx="6">
                  <c:v>Llama-4
(synthetic)</c:v>
                </c:pt>
              </c:strCache>
            </c:strRef>
          </c:cat>
          <c:val>
            <c:numRef>
              <c:f>Sheet1!$B$2:$B$8</c:f>
              <c:numCache>
                <c:formatCode>General</c:formatCode>
                <c:ptCount val="7"/>
                <c:pt idx="0">
                  <c:v>66.5</c:v>
                </c:pt>
                <c:pt idx="1">
                  <c:v>64.5</c:v>
                </c:pt>
                <c:pt idx="2">
                  <c:v>53.5</c:v>
                </c:pt>
                <c:pt idx="3">
                  <c:v>73.3</c:v>
                </c:pt>
                <c:pt idx="4">
                  <c:v>85.0</c:v>
                </c:pt>
                <c:pt idx="5">
                  <c:v>80.6</c:v>
                </c:pt>
                <c:pt idx="6">
                  <c:v>60.7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Clinical content preserved %</c:v>
                </c:pt>
              </c:strCache>
            </c:strRef>
          </c:tx>
          <c:spPr>
            <a:solidFill>
              <a:srgbClr val="1B2A4A"/>
            </a:solidFill>
            <a:ln>
              <a:noFill/>
            </a:ln>
          </c:spPr>
          <c:cat>
            <c:strRef>
              <c:f>Sheet1!$A$2:$A$8</c:f>
              <c:strCache>
                <c:ptCount val="7"/>
                <c:pt idx="0">
                  <c:v>GPT-3.5</c:v>
                </c:pt>
                <c:pt idx="1">
                  <c:v>GPT-4o</c:v>
                </c:pt>
                <c:pt idx="2">
                  <c:v>NER</c:v>
                </c:pt>
                <c:pt idx="3">
                  <c:v>DeepSeek
-V4-Pro</c:v>
                </c:pt>
                <c:pt idx="4">
                  <c:v>Llama-4
(instr.)</c:v>
                </c:pt>
                <c:pt idx="5">
                  <c:v>Llama-4
(few-shot)</c:v>
                </c:pt>
                <c:pt idx="6">
                  <c:v>Llama-4
(synthetic)</c:v>
                </c:pt>
              </c:strCache>
            </c:strRef>
          </c:cat>
          <c:val>
            <c:numRef>
              <c:f>Sheet1!$C$2:$C$8</c:f>
              <c:numCache>
                <c:formatCode>General</c:formatCode>
                <c:ptCount val="7"/>
                <c:pt idx="0">
                  <c:v>99.6</c:v>
                </c:pt>
                <c:pt idx="1">
                  <c:v>99.8</c:v>
                </c:pt>
                <c:pt idx="2">
                  <c:v>68.1</c:v>
                </c:pt>
                <c:pt idx="3">
                  <c:v>99.9</c:v>
                </c:pt>
                <c:pt idx="4">
                  <c:v>99.5</c:v>
                </c:pt>
                <c:pt idx="5">
                  <c:v>96.0</c:v>
                </c:pt>
                <c:pt idx="6">
                  <c:v>99.9</c:v>
                </c:pt>
              </c:numCache>
            </c:numRef>
          </c:val>
        </c:ser>
        <c:dLbls>
          <c:numFmt formatCode="0.0&quot;%&quot;" sourceLinked="0"/>
          <c:txPr>
            <a:bodyPr/>
            <a:lstStyle/>
            <a:p>
              <a:pPr>
                <a:defRPr sz="850"/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spPr>
          <a:ln>
            <a:solidFill>
              <a:srgbClr val="CFDCEA"/>
            </a:solidFill>
          </a:ln>
        </c:spPr>
        <c:txPr>
          <a:bodyPr/>
          <a:lstStyle/>
          <a:p>
            <a:pPr>
              <a:defRPr sz="950">
                <a:solidFill>
                  <a:srgbClr val="1B2A4A"/>
                </a:solidFill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max val="110.0"/>
          <c:min val="0.0"/>
        </c:scaling>
        <c:delete val="0"/>
        <c:axPos val="l"/>
        <c:majorGridlines>
          <c:spPr>
            <a:ln w="6350">
              <a:solidFill>
                <a:srgbClr val="CFDCEA"/>
              </a:solidFill>
            </a:ln>
          </c:spPr>
        </c:majorGridlines>
        <c:majorTickMark val="out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900">
                <a:solidFill>
                  <a:srgbClr val="5A6678"/>
                </a:solidFill>
              </a:defRPr>
            </a:pPr>
          </a:p>
        </c:txPr>
        <c:crossAx val="-2068027336"/>
        <c:crosses val="autoZero"/>
      </c:valAx>
    </c:plotArea>
    <c:legend>
      <c:legendPos val="b"/>
      <c:overlay val="0"/>
      <c:txPr>
        <a:bodyPr/>
        <a:lstStyle/>
        <a:p>
          <a:pPr>
            <a:defRPr sz="1000"/>
          </a:pPr>
        </a:p>
      </c:txPr>
    </c:legend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title>
      <c:tx>
        <c:rich>
          <a:bodyPr/>
          <a:lstStyle/>
          <a:p>
            <a:r>
              <a:rPr sz="1300" b="1">
                <a:solidFill>
                  <a:srgbClr val="1B2A4A"/>
                </a:solidFill>
                <a:latin typeface="Calibri"/>
              </a:rPr>
              <a:t>Personal vs. clinical recoverability, sorted by gap (best → worst)</a:t>
            </a:r>
          </a:p>
        </c:rich>
      </c:tx>
      <c:layout/>
      <c:overlay val="0"/>
    </c:title>
    <c:autoTitleDeleted val="0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PQ recoverable % (lower = more private)</c:v>
                </c:pt>
              </c:strCache>
            </c:strRef>
          </c:tx>
          <c:spPr>
            <a:solidFill>
              <a:srgbClr val="E86A5C"/>
            </a:solidFill>
            <a:ln>
              <a:noFill/>
            </a:ln>
          </c:spPr>
          <c:cat>
            <c:strRef>
              <c:f>Sheet1!$A$2:$A$8</c:f>
              <c:strCache>
                <c:ptCount val="7"/>
                <c:pt idx="0">
                  <c:v>Llama-4
(instr.)</c:v>
                </c:pt>
                <c:pt idx="1">
                  <c:v>Llama-4
(few-shot)</c:v>
                </c:pt>
                <c:pt idx="2">
                  <c:v>GPT-3.5</c:v>
                </c:pt>
                <c:pt idx="3">
                  <c:v>GPT-4o</c:v>
                </c:pt>
                <c:pt idx="4">
                  <c:v>DeepSeek
-V4-Pro</c:v>
                </c:pt>
                <c:pt idx="5">
                  <c:v>Llama-4
(synthetic)</c:v>
                </c:pt>
                <c:pt idx="6">
                  <c:v>NER</c:v>
                </c:pt>
              </c:strCache>
            </c:strRef>
          </c:cat>
          <c:val>
            <c:numRef>
              <c:f>Sheet1!$B$2:$B$8</c:f>
              <c:numCache>
                <c:formatCode>General</c:formatCode>
                <c:ptCount val="7"/>
                <c:pt idx="0">
                  <c:v>5.2</c:v>
                </c:pt>
                <c:pt idx="1">
                  <c:v>6.4</c:v>
                </c:pt>
                <c:pt idx="2">
                  <c:v>10.6</c:v>
                </c:pt>
                <c:pt idx="3">
                  <c:v>11.4</c:v>
                </c:pt>
                <c:pt idx="4">
                  <c:v>14.0</c:v>
                </c:pt>
                <c:pt idx="5">
                  <c:v>15.2</c:v>
                </c:pt>
                <c:pt idx="6">
                  <c:v>15.6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CQ recoverable % (higher = more useful)</c:v>
                </c:pt>
              </c:strCache>
            </c:strRef>
          </c:tx>
          <c:spPr>
            <a:solidFill>
              <a:srgbClr val="1E8F76"/>
            </a:solidFill>
            <a:ln>
              <a:noFill/>
            </a:ln>
          </c:spPr>
          <c:cat>
            <c:strRef>
              <c:f>Sheet1!$A$2:$A$8</c:f>
              <c:strCache>
                <c:ptCount val="7"/>
                <c:pt idx="0">
                  <c:v>Llama-4
(instr.)</c:v>
                </c:pt>
                <c:pt idx="1">
                  <c:v>Llama-4
(few-shot)</c:v>
                </c:pt>
                <c:pt idx="2">
                  <c:v>GPT-3.5</c:v>
                </c:pt>
                <c:pt idx="3">
                  <c:v>GPT-4o</c:v>
                </c:pt>
                <c:pt idx="4">
                  <c:v>DeepSeek
-V4-Pro</c:v>
                </c:pt>
                <c:pt idx="5">
                  <c:v>Llama-4
(synthetic)</c:v>
                </c:pt>
                <c:pt idx="6">
                  <c:v>NER</c:v>
                </c:pt>
              </c:strCache>
            </c:strRef>
          </c:cat>
          <c:val>
            <c:numRef>
              <c:f>Sheet1!$C$2:$C$8</c:f>
              <c:numCache>
                <c:formatCode>General</c:formatCode>
                <c:ptCount val="7"/>
                <c:pt idx="0">
                  <c:v>38.0</c:v>
                </c:pt>
                <c:pt idx="1">
                  <c:v>37.9</c:v>
                </c:pt>
                <c:pt idx="2">
                  <c:v>34.6</c:v>
                </c:pt>
                <c:pt idx="3">
                  <c:v>34.0</c:v>
                </c:pt>
                <c:pt idx="4">
                  <c:v>33.7</c:v>
                </c:pt>
                <c:pt idx="5">
                  <c:v>32.4</c:v>
                </c:pt>
                <c:pt idx="6">
                  <c:v>29.0</c:v>
                </c:pt>
              </c:numCache>
            </c:numRef>
          </c:val>
        </c:ser>
        <c:dLbls>
          <c:numFmt formatCode="0.0&quot;%&quot;" sourceLinked="0"/>
          <c:txPr>
            <a:bodyPr/>
            <a:lstStyle/>
            <a:p>
              <a:pPr>
                <a:defRPr sz="850"/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spPr>
          <a:ln>
            <a:solidFill>
              <a:srgbClr val="CFDCEA"/>
            </a:solidFill>
          </a:ln>
        </c:spPr>
        <c:txPr>
          <a:bodyPr/>
          <a:lstStyle/>
          <a:p>
            <a:pPr>
              <a:defRPr sz="950">
                <a:solidFill>
                  <a:srgbClr val="1B2A4A"/>
                </a:solidFill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max val="45.0"/>
          <c:min val="0.0"/>
        </c:scaling>
        <c:delete val="0"/>
        <c:axPos val="l"/>
        <c:majorGridlines>
          <c:spPr>
            <a:ln w="6350">
              <a:solidFill>
                <a:srgbClr val="CFDCEA"/>
              </a:solidFill>
            </a:ln>
          </c:spPr>
        </c:majorGridlines>
        <c:majorTickMark val="out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900">
                <a:solidFill>
                  <a:srgbClr val="5A6678"/>
                </a:solidFill>
              </a:defRPr>
            </a:pPr>
          </a:p>
        </c:txPr>
        <c:crossAx val="-2068027336"/>
        <c:crosses val="autoZero"/>
      </c:valAx>
    </c:plotArea>
    <c:legend>
      <c:legendPos val="b"/>
      <c:overlay val="0"/>
      <c:txPr>
        <a:bodyPr/>
        <a:lstStyle/>
        <a:p>
          <a:pPr>
            <a:defRPr sz="1000"/>
          </a:pPr>
        </a:p>
      </c:txPr>
    </c:legend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1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2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B2A4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8778240" y="-1280160"/>
            <a:ext cx="5029200" cy="5029200"/>
          </a:xfrm>
          <a:prstGeom prst="ellipse">
            <a:avLst/>
          </a:prstGeom>
          <a:solidFill>
            <a:srgbClr val="121D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9692640" y="-548640"/>
            <a:ext cx="3474720" cy="3474720"/>
          </a:xfrm>
          <a:prstGeom prst="ellipse">
            <a:avLst/>
          </a:prstGeom>
          <a:solidFill>
            <a:srgbClr val="2235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914400"/>
            <a:ext cx="73152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i="0">
                <a:solidFill>
                  <a:srgbClr val="1E8F76"/>
                </a:solidFill>
                <a:latin typeface="Calibri"/>
              </a:rPr>
              <a:t>MINDSHIELD  •  FINAL REPORT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1371600"/>
            <a:ext cx="9875520" cy="2011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4000" b="1" i="0">
                <a:solidFill>
                  <a:srgbClr val="FFFFFF"/>
                </a:solidFill>
                <a:latin typeface="Cambria"/>
              </a:rPr>
              <a:t>LLM-Based Anonymization of</a:t>
            </a:r>
          </a:p>
          <a:p>
            <a:pPr algn="l">
              <a:lnSpc>
                <a:spcPct val="105000"/>
              </a:lnSpc>
            </a:pPr>
            <a:r>
              <a:rPr sz="4000" b="1" i="0">
                <a:solidFill>
                  <a:srgbClr val="FFFFFF"/>
                </a:solidFill>
                <a:latin typeface="Cambria"/>
              </a:rPr>
              <a:t>Psychiatric Medical Records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3429000"/>
            <a:ext cx="896112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600" b="0" i="1">
                <a:solidFill>
                  <a:srgbClr val="CFDCEA"/>
                </a:solidFill>
                <a:latin typeface="Calibri"/>
              </a:rPr>
              <a:t>Context-aware de-identification via rephrasing, validated with tag-based, QA-based, and LLM-judge scoring.</a:t>
            </a:r>
          </a:p>
        </p:txBody>
      </p:sp>
      <p:sp>
        <p:nvSpPr>
          <p:cNvPr id="7" name="Oval 6"/>
          <p:cNvSpPr/>
          <p:nvPr/>
        </p:nvSpPr>
        <p:spPr>
          <a:xfrm>
            <a:off x="822960" y="4297680"/>
            <a:ext cx="502920" cy="502920"/>
          </a:xfrm>
          <a:prstGeom prst="ellipse">
            <a:avLst/>
          </a:prstGeom>
          <a:solidFill>
            <a:srgbClr val="2FBF9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  <a:r>
              <a:rPr sz="2200" b="1">
                <a:solidFill>
                  <a:srgbClr val="FFFFFF"/>
                </a:solidFill>
                <a:latin typeface="Calibri"/>
              </a:rPr>
              <a:t>✓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508760" y="4315968"/>
            <a:ext cx="548640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 i="0">
                <a:solidFill>
                  <a:srgbClr val="CFDCEA"/>
                </a:solidFill>
                <a:latin typeface="Calibri"/>
              </a:rPr>
              <a:t>878 patients · 7 model/prompt configurations · 3 validation methods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22960" y="5074920"/>
            <a:ext cx="5669280" cy="1234440"/>
          </a:xfrm>
          <a:prstGeom prst="roundRect">
            <a:avLst>
              <a:gd name="adj" fmla="val 12000"/>
            </a:avLst>
          </a:prstGeom>
          <a:solidFill>
            <a:srgbClr val="121D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51560" y="5230368"/>
            <a:ext cx="52120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 i="0">
                <a:solidFill>
                  <a:srgbClr val="2FBF9F"/>
                </a:solidFill>
                <a:latin typeface="Calibri"/>
              </a:rPr>
              <a:t>TEAM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51560" y="5504688"/>
            <a:ext cx="521208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0" i="0">
                <a:solidFill>
                  <a:srgbClr val="FFFFFF"/>
                </a:solidFill>
                <a:latin typeface="Calibri"/>
              </a:rPr>
              <a:t>Uriel Atzmon  ·  Victoria Chuykina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51560" y="5852160"/>
            <a:ext cx="521208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 i="0">
                <a:solidFill>
                  <a:srgbClr val="CFDCEA"/>
                </a:solidFill>
                <a:latin typeface="Calibri"/>
              </a:rPr>
              <a:t>Instructor: Alexander (Sasha) Apartsin, PhD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57200"/>
            <a:ext cx="73152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i="0">
                <a:solidFill>
                  <a:srgbClr val="1E8F76"/>
                </a:solidFill>
                <a:latin typeface="Calibri"/>
              </a:rPr>
              <a:t>01  —  PIPELINE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777240"/>
            <a:ext cx="105156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600" b="1" i="0">
                <a:solidFill>
                  <a:srgbClr val="1B2A4A"/>
                </a:solidFill>
                <a:latin typeface="Cambria"/>
              </a:rPr>
              <a:t>Five stages, end to end, all complete</a:t>
            </a:r>
          </a:p>
        </p:txBody>
      </p:sp>
      <p:sp>
        <p:nvSpPr>
          <p:cNvPr id="4" name="Oval 3"/>
          <p:cNvSpPr/>
          <p:nvPr/>
        </p:nvSpPr>
        <p:spPr>
          <a:xfrm>
            <a:off x="548640" y="1783080"/>
            <a:ext cx="502920" cy="502920"/>
          </a:xfrm>
          <a:prstGeom prst="ellipse">
            <a:avLst/>
          </a:prstGeom>
          <a:solidFill>
            <a:srgbClr val="2FBF9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  <a:r>
              <a:rPr sz="1800" b="1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234440" y="1691640"/>
            <a:ext cx="1965960" cy="8961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 i="0">
                <a:solidFill>
                  <a:srgbClr val="1B2A4A"/>
                </a:solidFill>
                <a:latin typeface="Calibri"/>
              </a:rPr>
              <a:t>Data Generation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291840" y="1691640"/>
            <a:ext cx="5532120" cy="786384"/>
          </a:xfrm>
          <a:prstGeom prst="roundRect">
            <a:avLst>
              <a:gd name="adj" fmla="val 6000"/>
            </a:avLst>
          </a:prstGeom>
          <a:solidFill>
            <a:srgbClr val="E8EE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474720" y="1746504"/>
            <a:ext cx="5212080" cy="67665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</a:pPr>
            <a:r>
              <a:rPr sz="1050" b="0" i="0">
                <a:solidFill>
                  <a:srgbClr val="1B2A4A"/>
                </a:solidFill>
                <a:latin typeface="Calibri"/>
              </a:rPr>
              <a:t>878 synthetic patients: 10 personal + 10 clinical Q&amp;A each,</a:t>
            </a:r>
          </a:p>
          <a:p>
            <a:pPr algn="l">
              <a:lnSpc>
                <a:spcPct val="108000"/>
              </a:lnSpc>
            </a:pPr>
            <a:r>
              <a:rPr sz="1050" b="0" i="0">
                <a:solidFill>
                  <a:srgbClr val="1B2A4A"/>
                </a:solidFill>
                <a:latin typeface="Calibri"/>
              </a:rPr>
              <a:t>sampled from a 25-question ePII bank and a 100-question DSM-5 bank → LLM-written intake note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006840" y="1691640"/>
            <a:ext cx="2651760" cy="8961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950" b="0" i="1">
                <a:solidFill>
                  <a:srgbClr val="5A6678"/>
                </a:solidFill>
                <a:latin typeface="Calibri"/>
              </a:rPr>
              <a:t>878 records, 10 disorders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800100" y="2587752"/>
            <a:ext cx="0" cy="128016"/>
          </a:xfrm>
          <a:prstGeom prst="line">
            <a:avLst/>
          </a:prstGeom>
          <a:ln w="25400">
            <a:solidFill>
              <a:srgbClr val="CFDCE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Oval 9"/>
          <p:cNvSpPr/>
          <p:nvPr/>
        </p:nvSpPr>
        <p:spPr>
          <a:xfrm>
            <a:off x="548640" y="2788920"/>
            <a:ext cx="502920" cy="502920"/>
          </a:xfrm>
          <a:prstGeom prst="ellipse">
            <a:avLst/>
          </a:prstGeom>
          <a:solidFill>
            <a:srgbClr val="2FBF9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  <a:r>
              <a:rPr sz="1800" b="1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234440" y="2697480"/>
            <a:ext cx="1965960" cy="8961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 i="0">
                <a:solidFill>
                  <a:srgbClr val="1B2A4A"/>
                </a:solidFill>
                <a:latin typeface="Calibri"/>
              </a:rPr>
              <a:t>Tagging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291840" y="2697480"/>
            <a:ext cx="5532120" cy="786384"/>
          </a:xfrm>
          <a:prstGeom prst="roundRect">
            <a:avLst>
              <a:gd name="adj" fmla="val 6000"/>
            </a:avLst>
          </a:prstGeom>
          <a:solidFill>
            <a:srgbClr val="E8EE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474720" y="2752344"/>
            <a:ext cx="5212080" cy="67665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</a:pPr>
            <a:r>
              <a:rPr sz="1050" b="0" i="0">
                <a:solidFill>
                  <a:srgbClr val="1B2A4A"/>
                </a:solidFill>
                <a:latin typeface="Calibri"/>
              </a:rPr>
              <a:t>LLM span annotation → [[TAG:TEXT]] gold standard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006840" y="2697480"/>
            <a:ext cx="2651760" cy="8961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950" b="0" i="1">
                <a:solidFill>
                  <a:srgbClr val="5A6678"/>
                </a:solidFill>
                <a:latin typeface="Calibri"/>
              </a:rPr>
              <a:t>9,013 tags (7,134 personal / 1,879 clinical), 10.3 / patient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800100" y="3593592"/>
            <a:ext cx="0" cy="128016"/>
          </a:xfrm>
          <a:prstGeom prst="line">
            <a:avLst/>
          </a:prstGeom>
          <a:ln w="25400">
            <a:solidFill>
              <a:srgbClr val="CFDCE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Oval 15"/>
          <p:cNvSpPr/>
          <p:nvPr/>
        </p:nvSpPr>
        <p:spPr>
          <a:xfrm>
            <a:off x="548640" y="3794760"/>
            <a:ext cx="502920" cy="502920"/>
          </a:xfrm>
          <a:prstGeom prst="ellipse">
            <a:avLst/>
          </a:prstGeom>
          <a:solidFill>
            <a:srgbClr val="2FBF9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  <a:r>
              <a:rPr sz="1800" b="1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234440" y="3703320"/>
            <a:ext cx="1965960" cy="8961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 i="0">
                <a:solidFill>
                  <a:srgbClr val="1B2A4A"/>
                </a:solidFill>
                <a:latin typeface="Calibri"/>
              </a:rPr>
              <a:t>Anonymization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3291840" y="3703320"/>
            <a:ext cx="5532120" cy="786384"/>
          </a:xfrm>
          <a:prstGeom prst="roundRect">
            <a:avLst>
              <a:gd name="adj" fmla="val 6000"/>
            </a:avLst>
          </a:prstGeom>
          <a:solidFill>
            <a:srgbClr val="E8EE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3474720" y="3758184"/>
            <a:ext cx="5212080" cy="67665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</a:pPr>
            <a:r>
              <a:rPr sz="1050" b="0" i="0">
                <a:solidFill>
                  <a:srgbClr val="1B2A4A"/>
                </a:solidFill>
                <a:latin typeface="Calibri"/>
              </a:rPr>
              <a:t>7 successful configurations: GPT-3.5, GPT-4o, NER baseline,</a:t>
            </a:r>
          </a:p>
          <a:p>
            <a:pPr algn="l">
              <a:lnSpc>
                <a:spcPct val="108000"/>
              </a:lnSpc>
            </a:pPr>
            <a:r>
              <a:rPr sz="1050" b="0" i="0">
                <a:solidFill>
                  <a:srgbClr val="1B2A4A"/>
                </a:solidFill>
                <a:latin typeface="Calibri"/>
              </a:rPr>
              <a:t>DeepSeek-V4-Pro, Llama-4-Maverick × 3 prompting strategies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006840" y="3703320"/>
            <a:ext cx="2651760" cy="8961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950" b="0" i="1">
                <a:solidFill>
                  <a:srgbClr val="5A6678"/>
                </a:solidFill>
                <a:latin typeface="Calibri"/>
              </a:rPr>
              <a:t>PII-removed % / clinical-retained %</a:t>
            </a:r>
          </a:p>
        </p:txBody>
      </p:sp>
      <p:cxnSp>
        <p:nvCxnSpPr>
          <p:cNvPr id="21" name="Connector 20"/>
          <p:cNvCxnSpPr/>
          <p:nvPr/>
        </p:nvCxnSpPr>
        <p:spPr>
          <a:xfrm>
            <a:off x="800100" y="4599432"/>
            <a:ext cx="0" cy="128016"/>
          </a:xfrm>
          <a:prstGeom prst="line">
            <a:avLst/>
          </a:prstGeom>
          <a:ln w="25400">
            <a:solidFill>
              <a:srgbClr val="CFDCE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Oval 21"/>
          <p:cNvSpPr/>
          <p:nvPr/>
        </p:nvSpPr>
        <p:spPr>
          <a:xfrm>
            <a:off x="548640" y="4800600"/>
            <a:ext cx="502920" cy="502920"/>
          </a:xfrm>
          <a:prstGeom prst="ellipse">
            <a:avLst/>
          </a:prstGeom>
          <a:solidFill>
            <a:srgbClr val="2FBF9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  <a:r>
              <a:rPr sz="1800" b="1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234440" y="4709160"/>
            <a:ext cx="1965960" cy="8961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 i="0">
                <a:solidFill>
                  <a:srgbClr val="1B2A4A"/>
                </a:solidFill>
                <a:latin typeface="Calibri"/>
              </a:rPr>
              <a:t>Validation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3291840" y="4709160"/>
            <a:ext cx="5532120" cy="786384"/>
          </a:xfrm>
          <a:prstGeom prst="roundRect">
            <a:avLst>
              <a:gd name="adj" fmla="val 6000"/>
            </a:avLst>
          </a:prstGeom>
          <a:solidFill>
            <a:srgbClr val="E8EE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3474720" y="4764024"/>
            <a:ext cx="5212080" cy="67665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</a:pPr>
            <a:r>
              <a:rPr sz="1050" b="0" i="0">
                <a:solidFill>
                  <a:srgbClr val="1B2A4A"/>
                </a:solidFill>
                <a:latin typeface="Calibri"/>
              </a:rPr>
              <a:t>Tag-based (exact-match) + QA-based (re-answer 20 Qs, BERTScore)</a:t>
            </a:r>
          </a:p>
          <a:p>
            <a:pPr algn="l">
              <a:lnSpc>
                <a:spcPct val="108000"/>
              </a:lnSpc>
            </a:pPr>
            <a:r>
              <a:rPr sz="1050" b="0" i="0">
                <a:solidFill>
                  <a:srgbClr val="1B2A4A"/>
                </a:solidFill>
                <a:latin typeface="Calibri"/>
              </a:rPr>
              <a:t>+ binary LLM-judge (50-patient sample per model)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006840" y="4709160"/>
            <a:ext cx="2651760" cy="8961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950" b="0" i="1">
                <a:solidFill>
                  <a:srgbClr val="5A6678"/>
                </a:solidFill>
                <a:latin typeface="Calibri"/>
              </a:rPr>
              <a:t>3 independent, cross-checked metrics</a:t>
            </a:r>
          </a:p>
        </p:txBody>
      </p:sp>
      <p:cxnSp>
        <p:nvCxnSpPr>
          <p:cNvPr id="27" name="Connector 26"/>
          <p:cNvCxnSpPr/>
          <p:nvPr/>
        </p:nvCxnSpPr>
        <p:spPr>
          <a:xfrm>
            <a:off x="800100" y="5605272"/>
            <a:ext cx="0" cy="128016"/>
          </a:xfrm>
          <a:prstGeom prst="line">
            <a:avLst/>
          </a:prstGeom>
          <a:ln w="25400">
            <a:solidFill>
              <a:srgbClr val="CFDCE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8" name="Oval 27"/>
          <p:cNvSpPr/>
          <p:nvPr/>
        </p:nvSpPr>
        <p:spPr>
          <a:xfrm>
            <a:off x="548640" y="5806440"/>
            <a:ext cx="502920" cy="502920"/>
          </a:xfrm>
          <a:prstGeom prst="ellipse">
            <a:avLst/>
          </a:prstGeom>
          <a:solidFill>
            <a:srgbClr val="2FBF9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  <a:r>
              <a:rPr sz="1800" b="1">
                <a:solidFill>
                  <a:srgbClr val="FFFFFF"/>
                </a:solidFill>
                <a:latin typeface="Calibri"/>
              </a:rPr>
              <a:t>5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234440" y="5715000"/>
            <a:ext cx="1965960" cy="8961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 i="0">
                <a:solidFill>
                  <a:srgbClr val="1B2A4A"/>
                </a:solidFill>
                <a:latin typeface="Calibri"/>
              </a:rPr>
              <a:t>Result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3291840" y="5715000"/>
            <a:ext cx="5532120" cy="786384"/>
          </a:xfrm>
          <a:prstGeom prst="roundRect">
            <a:avLst>
              <a:gd name="adj" fmla="val 6000"/>
            </a:avLst>
          </a:prstGeom>
          <a:solidFill>
            <a:srgbClr val="E8EE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3474720" y="5769864"/>
            <a:ext cx="5212080" cy="67665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</a:pPr>
            <a:r>
              <a:rPr sz="1050" b="0" i="0">
                <a:solidFill>
                  <a:srgbClr val="1B2A4A"/>
                </a:solidFill>
                <a:latin typeface="Calibri"/>
              </a:rPr>
              <a:t>Leaderboard ranked by privacy–utility gap = CQ recoverable % − PQ recoverable %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006840" y="5715000"/>
            <a:ext cx="2651760" cy="8961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950" b="0" i="1">
                <a:solidFill>
                  <a:srgbClr val="5A6678"/>
                </a:solidFill>
                <a:latin typeface="Calibri"/>
              </a:rPr>
              <a:t>Winner: Llama-4-Maverick, instructional prompt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1368735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1000" b="0" i="0">
                <a:solidFill>
                  <a:srgbClr val="5A6678"/>
                </a:solidFill>
                <a:latin typeface="Calibri"/>
              </a:rPr>
              <a:t>1 / 8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57200"/>
            <a:ext cx="73152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i="0">
                <a:solidFill>
                  <a:srgbClr val="1E8F76"/>
                </a:solidFill>
                <a:latin typeface="Calibri"/>
              </a:rPr>
              <a:t>02  —  EXPERIMENTAL SETUP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777240"/>
            <a:ext cx="105156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600" b="1" i="0">
                <a:solidFill>
                  <a:srgbClr val="1B2A4A"/>
                </a:solidFill>
                <a:latin typeface="Cambria"/>
              </a:rPr>
              <a:t>What we compared, and how we scored it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600200"/>
            <a:ext cx="53949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 i="0">
                <a:solidFill>
                  <a:srgbClr val="1B2A4A"/>
                </a:solidFill>
                <a:latin typeface="Calibri"/>
              </a:rPr>
              <a:t>MODELS COMPARED (ALL 878 PATIENTS)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965960"/>
            <a:ext cx="5394960" cy="2743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marL="228600" indent="-228600">
              <a:lnSpc>
                <a:spcPct val="108000"/>
              </a:lnSpc>
              <a:spcAft>
                <a:spcPts val="800"/>
              </a:spcAft>
              <a:buClr>
                <a:srgbClr val="1E8F76"/>
              </a:buClr>
              <a:buFont typeface="Arial"/>
              <a:buChar char="•"/>
            </a:pPr>
            <a:r>
              <a:rPr sz="1250">
                <a:solidFill>
                  <a:srgbClr val="1B2A4A"/>
                </a:solidFill>
                <a:latin typeface="Calibri"/>
              </a:rPr>
              <a:t>GPT-3.5-turbo, GPT-4o — instructional prompt</a:t>
            </a:r>
          </a:p>
          <a:p>
            <a:pPr marL="228600" indent="-228600">
              <a:lnSpc>
                <a:spcPct val="108000"/>
              </a:lnSpc>
              <a:spcAft>
                <a:spcPts val="800"/>
              </a:spcAft>
              <a:buClr>
                <a:srgbClr val="1E8F76"/>
              </a:buClr>
              <a:buFont typeface="Arial"/>
              <a:buChar char="•"/>
            </a:pPr>
            <a:r>
              <a:rPr sz="1250">
                <a:solidFill>
                  <a:srgbClr val="1B2A4A"/>
                </a:solidFill>
                <a:latin typeface="Calibri"/>
              </a:rPr>
              <a:t>NER baseline — entity masking, no rephrasing</a:t>
            </a:r>
          </a:p>
          <a:p>
            <a:pPr marL="228600" indent="-228600">
              <a:lnSpc>
                <a:spcPct val="108000"/>
              </a:lnSpc>
              <a:spcAft>
                <a:spcPts val="800"/>
              </a:spcAft>
              <a:buClr>
                <a:srgbClr val="1E8F76"/>
              </a:buClr>
              <a:buFont typeface="Arial"/>
              <a:buChar char="•"/>
            </a:pPr>
            <a:r>
              <a:rPr sz="1250">
                <a:solidFill>
                  <a:srgbClr val="1B2A4A"/>
                </a:solidFill>
                <a:latin typeface="Calibri"/>
              </a:rPr>
              <a:t>DeepSeek-V4-Pro, Llama-4-Maverick-17B — instructional prompt (Azure AI Foundry)</a:t>
            </a:r>
          </a:p>
          <a:p>
            <a:pPr marL="228600" indent="-228600">
              <a:lnSpc>
                <a:spcPct val="108000"/>
              </a:lnSpc>
              <a:spcAft>
                <a:spcPts val="800"/>
              </a:spcAft>
              <a:buClr>
                <a:srgbClr val="1E8F76"/>
              </a:buClr>
              <a:buFont typeface="Arial"/>
              <a:buChar char="•"/>
            </a:pPr>
            <a:r>
              <a:rPr sz="1250">
                <a:solidFill>
                  <a:srgbClr val="1B2A4A"/>
                </a:solidFill>
                <a:latin typeface="Calibri"/>
              </a:rPr>
              <a:t>Llama-4-Maverick — few-shot prompt variant</a:t>
            </a:r>
          </a:p>
          <a:p>
            <a:pPr marL="228600" indent="-228600">
              <a:lnSpc>
                <a:spcPct val="108000"/>
              </a:lnSpc>
              <a:spcAft>
                <a:spcPts val="800"/>
              </a:spcAft>
              <a:buClr>
                <a:srgbClr val="1E8F76"/>
              </a:buClr>
              <a:buFont typeface="Arial"/>
              <a:buChar char="•"/>
            </a:pPr>
            <a:r>
              <a:rPr sz="1250">
                <a:solidFill>
                  <a:srgbClr val="1B2A4A"/>
                </a:solidFill>
                <a:latin typeface="Calibri"/>
              </a:rPr>
              <a:t>Llama-4-Maverick — synthetic-identity prompt variant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4709160"/>
            <a:ext cx="5394960" cy="1463040"/>
          </a:xfrm>
          <a:prstGeom prst="roundRect">
            <a:avLst>
              <a:gd name="adj" fmla="val 6000"/>
            </a:avLst>
          </a:prstGeom>
          <a:solidFill>
            <a:srgbClr val="E8EE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4864608"/>
            <a:ext cx="4937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 i="0">
                <a:solidFill>
                  <a:srgbClr val="1B2A4A"/>
                </a:solidFill>
                <a:latin typeface="Calibri"/>
              </a:rPr>
              <a:t>EXCLUDED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5166360"/>
            <a:ext cx="493776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 i="0">
                <a:solidFill>
                  <a:srgbClr val="5A6678"/>
                </a:solidFill>
                <a:latin typeface="Calibri"/>
              </a:rPr>
              <a:t>gpt-5-mini: 657/878 rows failed (parameter-support errors) — left as documented future work, not part of headline comparisons.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263640" y="1600200"/>
            <a:ext cx="53949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 i="0">
                <a:solidFill>
                  <a:srgbClr val="1B2A4A"/>
                </a:solidFill>
                <a:latin typeface="Calibri"/>
              </a:rPr>
              <a:t>THREE VALIDATION METHODS</a:t>
            </a:r>
          </a:p>
        </p:txBody>
      </p:sp>
      <p:sp>
        <p:nvSpPr>
          <p:cNvPr id="10" name="Oval 9"/>
          <p:cNvSpPr/>
          <p:nvPr/>
        </p:nvSpPr>
        <p:spPr>
          <a:xfrm>
            <a:off x="6263640" y="2011680"/>
            <a:ext cx="457200" cy="457200"/>
          </a:xfrm>
          <a:prstGeom prst="ellipse">
            <a:avLst/>
          </a:prstGeom>
          <a:solidFill>
            <a:srgbClr val="2FBF9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Calibri"/>
              </a:rPr>
              <a:t>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903720" y="1993392"/>
            <a:ext cx="475488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 i="0">
                <a:solidFill>
                  <a:srgbClr val="1B2A4A"/>
                </a:solidFill>
                <a:latin typeface="Calibri"/>
              </a:rPr>
              <a:t>Tag-based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903720" y="2322576"/>
            <a:ext cx="475488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100" b="0" i="0">
                <a:solidFill>
                  <a:srgbClr val="5A6678"/>
                </a:solidFill>
                <a:latin typeface="Calibri"/>
              </a:rPr>
              <a:t>Exact-span match: was each tagged PII span removed? Was each tagged clinical span preserved verbatim?</a:t>
            </a:r>
          </a:p>
        </p:txBody>
      </p:sp>
      <p:sp>
        <p:nvSpPr>
          <p:cNvPr id="13" name="Oval 12"/>
          <p:cNvSpPr/>
          <p:nvPr/>
        </p:nvSpPr>
        <p:spPr>
          <a:xfrm>
            <a:off x="6263640" y="3154680"/>
            <a:ext cx="457200" cy="457200"/>
          </a:xfrm>
          <a:prstGeom prst="ellipse">
            <a:avLst/>
          </a:prstGeom>
          <a:solidFill>
            <a:srgbClr val="2FBF9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Calibri"/>
              </a:rPr>
              <a:t>Q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903720" y="3136392"/>
            <a:ext cx="475488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 i="0">
                <a:solidFill>
                  <a:srgbClr val="1B2A4A"/>
                </a:solidFill>
                <a:latin typeface="Calibri"/>
              </a:rPr>
              <a:t>QA-based (BERTScore)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903720" y="3465576"/>
            <a:ext cx="475488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100" b="0" i="0">
                <a:solidFill>
                  <a:srgbClr val="5A6678"/>
                </a:solidFill>
                <a:latin typeface="Calibri"/>
              </a:rPr>
              <a:t>Re-ask all 20 personal/clinical questions against the anonymized text only; score the new answer against the ground truth</a:t>
            </a:r>
          </a:p>
        </p:txBody>
      </p:sp>
      <p:sp>
        <p:nvSpPr>
          <p:cNvPr id="16" name="Oval 15"/>
          <p:cNvSpPr/>
          <p:nvPr/>
        </p:nvSpPr>
        <p:spPr>
          <a:xfrm>
            <a:off x="6263640" y="4297680"/>
            <a:ext cx="457200" cy="457200"/>
          </a:xfrm>
          <a:prstGeom prst="ellipse">
            <a:avLst/>
          </a:prstGeom>
          <a:solidFill>
            <a:srgbClr val="2FBF9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Calibri"/>
              </a:rPr>
              <a:t>J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903720" y="4279392"/>
            <a:ext cx="475488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 i="0">
                <a:solidFill>
                  <a:srgbClr val="1B2A4A"/>
                </a:solidFill>
                <a:latin typeface="Calibri"/>
              </a:rPr>
              <a:t>LLM-judge (binary)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903720" y="4608576"/>
            <a:ext cx="475488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100" b="0" i="0">
                <a:solidFill>
                  <a:srgbClr val="5A6678"/>
                </a:solidFill>
                <a:latin typeface="Calibri"/>
              </a:rPr>
              <a:t>Same 20 questions, but the LLM gives a direct yes/no: is this still recoverable from the note? 50-patient sample per model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263640" y="5486400"/>
            <a:ext cx="5394960" cy="777240"/>
          </a:xfrm>
          <a:prstGeom prst="roundRect">
            <a:avLst>
              <a:gd name="adj" fmla="val 10000"/>
            </a:avLst>
          </a:prstGeom>
          <a:solidFill>
            <a:srgbClr val="1B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492240" y="5605272"/>
            <a:ext cx="493776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150" b="1" i="0">
                <a:solidFill>
                  <a:srgbClr val="FFFFFF"/>
                </a:solidFill>
                <a:latin typeface="Calibri"/>
              </a:rPr>
              <a:t>Headline metric: privacy–utility gap = CQ recoverable % − PQ recoverable % (LLM-judge)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1368735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1000" b="0" i="0">
                <a:solidFill>
                  <a:srgbClr val="5A6678"/>
                </a:solidFill>
                <a:latin typeface="Calibri"/>
              </a:rPr>
              <a:t>2 / 8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57200"/>
            <a:ext cx="73152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i="0">
                <a:solidFill>
                  <a:srgbClr val="1E8F76"/>
                </a:solidFill>
                <a:latin typeface="Calibri"/>
              </a:rPr>
              <a:t>03  —  RESULTS I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777240"/>
            <a:ext cx="105156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600" b="1" i="0">
                <a:solidFill>
                  <a:srgbClr val="1B2A4A"/>
                </a:solidFill>
                <a:latin typeface="Cambria"/>
              </a:rPr>
              <a:t>Tag-based validation, across all 7 configurations</a:t>
            </a:r>
          </a:p>
        </p:txBody>
      </p:sp>
      <p:graphicFrame>
        <p:nvGraphicFramePr>
          <p:cNvPr id="4" name="Chart 3"/>
          <p:cNvGraphicFramePr>
            <a:graphicFrameLocks noGrp="1"/>
          </p:cNvGraphicFramePr>
          <p:nvPr/>
        </p:nvGraphicFramePr>
        <p:xfrm>
          <a:off x="457200" y="1600200"/>
          <a:ext cx="7680960" cy="443484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8366760" y="1691640"/>
            <a:ext cx="32918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 i="0">
                <a:solidFill>
                  <a:srgbClr val="1B2A4A"/>
                </a:solidFill>
                <a:latin typeface="Calibri"/>
              </a:rPr>
              <a:t>READING THIS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366760" y="2057400"/>
            <a:ext cx="3291840" cy="40233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marL="228600" indent="-228600">
              <a:lnSpc>
                <a:spcPct val="112000"/>
              </a:lnSpc>
              <a:spcAft>
                <a:spcPts val="900"/>
              </a:spcAft>
              <a:buClr>
                <a:srgbClr val="1E8F76"/>
              </a:buClr>
              <a:buFont typeface="Arial"/>
              <a:buChar char="•"/>
            </a:pPr>
            <a:r>
              <a:rPr sz="1050">
                <a:solidFill>
                  <a:srgbClr val="1B2A4A"/>
                </a:solidFill>
                <a:latin typeface="Calibri"/>
              </a:rPr>
              <a:t>Llama-4-Maverick with the instructional prompt removes the most PII (85.0%) while keeping clinical content nearly intact (99.5%)</a:t>
            </a:r>
          </a:p>
          <a:p>
            <a:pPr marL="228600" indent="-228600">
              <a:lnSpc>
                <a:spcPct val="112000"/>
              </a:lnSpc>
              <a:spcAft>
                <a:spcPts val="900"/>
              </a:spcAft>
              <a:buClr>
                <a:srgbClr val="1E8F76"/>
              </a:buClr>
              <a:buFont typeface="Arial"/>
              <a:buChar char="•"/>
            </a:pPr>
            <a:r>
              <a:rPr sz="1050">
                <a:solidFill>
                  <a:srgbClr val="1B2A4A"/>
                </a:solidFill>
                <a:latin typeface="Calibri"/>
              </a:rPr>
              <a:t>NER masking preserves the least clinical content by far (68.1%) — rephrasing beats blind masking</a:t>
            </a:r>
          </a:p>
          <a:p>
            <a:pPr marL="228600" indent="-228600">
              <a:lnSpc>
                <a:spcPct val="112000"/>
              </a:lnSpc>
              <a:spcAft>
                <a:spcPts val="900"/>
              </a:spcAft>
              <a:buClr>
                <a:srgbClr val="1E8F76"/>
              </a:buClr>
              <a:buFont typeface="Arial"/>
              <a:buChar char="•"/>
            </a:pPr>
            <a:r>
              <a:rPr sz="1050">
                <a:solidFill>
                  <a:srgbClr val="1B2A4A"/>
                </a:solidFill>
                <a:latin typeface="Calibri"/>
              </a:rPr>
              <a:t>Synthetic-identity prompting removes the least PII (60.7%) of the three Llama-4 variants — inventing a fake identity leaves more specific-sounding detail behind</a:t>
            </a:r>
          </a:p>
          <a:p>
            <a:pPr marL="228600" indent="-228600">
              <a:lnSpc>
                <a:spcPct val="112000"/>
              </a:lnSpc>
              <a:spcAft>
                <a:spcPts val="900"/>
              </a:spcAft>
              <a:buClr>
                <a:srgbClr val="1E8F76"/>
              </a:buClr>
              <a:buFont typeface="Arial"/>
              <a:buChar char="•"/>
            </a:pPr>
            <a:r>
              <a:rPr sz="1050">
                <a:solidFill>
                  <a:srgbClr val="1B2A4A"/>
                </a:solidFill>
                <a:latin typeface="Calibri"/>
              </a:rPr>
              <a:t>GPT-4o: 119/878 rows errored (API); DeepSeek-V4-Pro: 86/878 (rate limits) — both excluded from these percentages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368735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1000" b="0" i="0">
                <a:solidFill>
                  <a:srgbClr val="5A6678"/>
                </a:solidFill>
                <a:latin typeface="Calibri"/>
              </a:rPr>
              <a:t>3 / 8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57200"/>
            <a:ext cx="73152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i="0">
                <a:solidFill>
                  <a:srgbClr val="1E8F76"/>
                </a:solidFill>
                <a:latin typeface="Calibri"/>
              </a:rPr>
              <a:t>04  —  RESULTS II  (HEADLINE)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777240"/>
            <a:ext cx="105156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600" b="1" i="0">
                <a:solidFill>
                  <a:srgbClr val="1B2A4A"/>
                </a:solidFill>
                <a:latin typeface="Cambria"/>
              </a:rPr>
              <a:t>QA-based validation: LLM-judge privacy–utility leaderboard</a:t>
            </a:r>
          </a:p>
        </p:txBody>
      </p:sp>
      <p:graphicFrame>
        <p:nvGraphicFramePr>
          <p:cNvPr id="4" name="Chart 3"/>
          <p:cNvGraphicFramePr>
            <a:graphicFrameLocks noGrp="1"/>
          </p:cNvGraphicFramePr>
          <p:nvPr/>
        </p:nvGraphicFramePr>
        <p:xfrm>
          <a:off x="457200" y="1600200"/>
          <a:ext cx="7680960" cy="443484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8366760" y="1691640"/>
            <a:ext cx="32918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 i="0">
                <a:solidFill>
                  <a:srgbClr val="1B2A4A"/>
                </a:solidFill>
                <a:latin typeface="Calibri"/>
              </a:rPr>
              <a:t>READING THIS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366760" y="2057400"/>
            <a:ext cx="3291840" cy="40233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marL="228600" indent="-228600">
              <a:lnSpc>
                <a:spcPct val="112000"/>
              </a:lnSpc>
              <a:spcAft>
                <a:spcPts val="900"/>
              </a:spcAft>
              <a:buClr>
                <a:srgbClr val="1E8F76"/>
              </a:buClr>
              <a:buFont typeface="Arial"/>
              <a:buChar char="•"/>
            </a:pPr>
            <a:r>
              <a:rPr sz="1050">
                <a:solidFill>
                  <a:srgbClr val="1B2A4A"/>
                </a:solidFill>
                <a:latin typeface="Calibri"/>
              </a:rPr>
              <a:t>Winner: Llama-4-Maverick, instructional prompt — gap of 32.8pp (PQ 5.2%, CQ 38.0%)</a:t>
            </a:r>
          </a:p>
          <a:p>
            <a:pPr marL="228600" indent="-228600">
              <a:lnSpc>
                <a:spcPct val="112000"/>
              </a:lnSpc>
              <a:spcAft>
                <a:spcPts val="900"/>
              </a:spcAft>
              <a:buClr>
                <a:srgbClr val="1E8F76"/>
              </a:buClr>
              <a:buFont typeface="Arial"/>
              <a:buChar char="•"/>
            </a:pPr>
            <a:r>
              <a:rPr sz="1050">
                <a:solidFill>
                  <a:srgbClr val="1B2A4A"/>
                </a:solidFill>
                <a:latin typeface="Calibri"/>
              </a:rPr>
              <a:t>Every configuration keeps personal-info recoverability low (5–16%) — privacy protection is solid everywhere</a:t>
            </a:r>
          </a:p>
          <a:p>
            <a:pPr marL="228600" indent="-228600">
              <a:lnSpc>
                <a:spcPct val="112000"/>
              </a:lnSpc>
              <a:spcAft>
                <a:spcPts val="900"/>
              </a:spcAft>
              <a:buClr>
                <a:srgbClr val="1E8F76"/>
              </a:buClr>
              <a:buFont typeface="Arial"/>
              <a:buChar char="•"/>
            </a:pPr>
            <a:r>
              <a:rPr sz="1050">
                <a:solidFill>
                  <a:srgbClr val="1B2A4A"/>
                </a:solidFill>
                <a:latin typeface="Calibri"/>
              </a:rPr>
              <a:t>CQ sits in a narrower 29–38% band — the judge applies a strict literal-fact standard to long clinical answers; treat tag-based clinical retention (95–99.9%) as the more reliable utility number</a:t>
            </a:r>
          </a:p>
          <a:p>
            <a:pPr marL="228600" indent="-228600">
              <a:lnSpc>
                <a:spcPct val="112000"/>
              </a:lnSpc>
              <a:spcAft>
                <a:spcPts val="900"/>
              </a:spcAft>
              <a:buClr>
                <a:srgbClr val="1E8F76"/>
              </a:buClr>
              <a:buFont typeface="Arial"/>
              <a:buChar char="•"/>
            </a:pPr>
            <a:r>
              <a:rPr sz="1050">
                <a:solidFill>
                  <a:srgbClr val="1B2A4A"/>
                </a:solidFill>
                <a:latin typeface="Calibri"/>
              </a:rPr>
              <a:t>Sample: 50 patients per model (cost/time), not the full 878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368735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1000" b="0" i="0">
                <a:solidFill>
                  <a:srgbClr val="5A6678"/>
                </a:solidFill>
                <a:latin typeface="Calibri"/>
              </a:rPr>
              <a:t>4 / 8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57200"/>
            <a:ext cx="73152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i="0">
                <a:solidFill>
                  <a:srgbClr val="1E8F76"/>
                </a:solidFill>
                <a:latin typeface="Calibri"/>
              </a:rPr>
              <a:t>05  —  PROMPTING STRATEGY ABLATION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777240"/>
            <a:ext cx="105156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600" b="1" i="0">
                <a:solidFill>
                  <a:srgbClr val="1B2A4A"/>
                </a:solidFill>
                <a:latin typeface="Cambria"/>
              </a:rPr>
              <a:t>One model, three prompts: does phrasing the instruction differently help?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691640"/>
            <a:ext cx="11457432" cy="457200"/>
          </a:xfrm>
          <a:prstGeom prst="rect">
            <a:avLst/>
          </a:prstGeom>
          <a:solidFill>
            <a:srgbClr val="1B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21792" y="1691640"/>
            <a:ext cx="2633472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 i="0">
                <a:solidFill>
                  <a:srgbClr val="FFFFFF"/>
                </a:solidFill>
                <a:latin typeface="Calibri"/>
              </a:rPr>
              <a:t>Prompt variant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456432" y="1691640"/>
            <a:ext cx="1764791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 i="0">
                <a:solidFill>
                  <a:srgbClr val="FFFFFF"/>
                </a:solidFill>
                <a:latin typeface="Calibri"/>
              </a:rPr>
              <a:t>PII removed %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22392" y="1691640"/>
            <a:ext cx="1856232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 i="0">
                <a:solidFill>
                  <a:srgbClr val="FFFFFF"/>
                </a:solidFill>
                <a:latin typeface="Calibri"/>
              </a:rPr>
              <a:t>Clinical preserved %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479792" y="1691640"/>
            <a:ext cx="1673352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 i="0">
                <a:solidFill>
                  <a:srgbClr val="FFFFFF"/>
                </a:solidFill>
                <a:latin typeface="Calibri"/>
              </a:rPr>
              <a:t>PQ recoverable %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354312" y="1691640"/>
            <a:ext cx="1490472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 i="0">
                <a:solidFill>
                  <a:srgbClr val="FFFFFF"/>
                </a:solidFill>
                <a:latin typeface="Calibri"/>
              </a:rPr>
              <a:t>CQ recoverable %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045952" y="1691640"/>
            <a:ext cx="923543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 i="0">
                <a:solidFill>
                  <a:srgbClr val="FFFFFF"/>
                </a:solidFill>
                <a:latin typeface="Calibri"/>
              </a:rPr>
              <a:t>Gap (pp)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48640" y="2148840"/>
            <a:ext cx="11457432" cy="566928"/>
          </a:xfrm>
          <a:prstGeom prst="rect">
            <a:avLst/>
          </a:prstGeom>
          <a:solidFill>
            <a:srgbClr val="E8EE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21792" y="2148840"/>
            <a:ext cx="2633472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i="0">
                <a:solidFill>
                  <a:srgbClr val="1B2A4A"/>
                </a:solidFill>
                <a:latin typeface="Calibri"/>
              </a:rPr>
              <a:t>Instructional (baseline)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456432" y="2148840"/>
            <a:ext cx="1764791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i="0">
                <a:solidFill>
                  <a:srgbClr val="1E8F76"/>
                </a:solidFill>
                <a:latin typeface="Calibri"/>
              </a:rPr>
              <a:t>85.0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422392" y="2148840"/>
            <a:ext cx="1856232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i="0">
                <a:solidFill>
                  <a:srgbClr val="1E8F76"/>
                </a:solidFill>
                <a:latin typeface="Calibri"/>
              </a:rPr>
              <a:t>99.5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479792" y="2148840"/>
            <a:ext cx="1673352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i="0">
                <a:solidFill>
                  <a:srgbClr val="1E8F76"/>
                </a:solidFill>
                <a:latin typeface="Calibri"/>
              </a:rPr>
              <a:t>5.2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354312" y="2148840"/>
            <a:ext cx="1490472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i="0">
                <a:solidFill>
                  <a:srgbClr val="1E8F76"/>
                </a:solidFill>
                <a:latin typeface="Calibri"/>
              </a:rPr>
              <a:t>38.0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1045952" y="2148840"/>
            <a:ext cx="923543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i="0">
                <a:solidFill>
                  <a:srgbClr val="1E8F76"/>
                </a:solidFill>
                <a:latin typeface="Calibri"/>
              </a:rPr>
              <a:t>32.8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48640" y="2715768"/>
            <a:ext cx="11457432" cy="56692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21792" y="2715768"/>
            <a:ext cx="2633472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 i="0">
                <a:solidFill>
                  <a:srgbClr val="1B2A4A"/>
                </a:solidFill>
                <a:latin typeface="Calibri"/>
              </a:rPr>
              <a:t>Few-shot examples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456432" y="2715768"/>
            <a:ext cx="1764791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 i="0">
                <a:solidFill>
                  <a:srgbClr val="1B2A4A"/>
                </a:solidFill>
                <a:latin typeface="Calibri"/>
              </a:rPr>
              <a:t>80.6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422392" y="2715768"/>
            <a:ext cx="1856232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 i="0">
                <a:solidFill>
                  <a:srgbClr val="1B2A4A"/>
                </a:solidFill>
                <a:latin typeface="Calibri"/>
              </a:rPr>
              <a:t>96.0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479792" y="2715768"/>
            <a:ext cx="1673352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 i="0">
                <a:solidFill>
                  <a:srgbClr val="1B2A4A"/>
                </a:solidFill>
                <a:latin typeface="Calibri"/>
              </a:rPr>
              <a:t>6.4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354312" y="2715768"/>
            <a:ext cx="1490472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 i="0">
                <a:solidFill>
                  <a:srgbClr val="1B2A4A"/>
                </a:solidFill>
                <a:latin typeface="Calibri"/>
              </a:rPr>
              <a:t>37.9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1045952" y="2715768"/>
            <a:ext cx="923543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 i="0">
                <a:solidFill>
                  <a:srgbClr val="1B2A4A"/>
                </a:solidFill>
                <a:latin typeface="Calibri"/>
              </a:rPr>
              <a:t>31.5</a:t>
            </a:r>
          </a:p>
        </p:txBody>
      </p:sp>
      <p:sp>
        <p:nvSpPr>
          <p:cNvPr id="25" name="Rectangle 24"/>
          <p:cNvSpPr/>
          <p:nvPr/>
        </p:nvSpPr>
        <p:spPr>
          <a:xfrm>
            <a:off x="548640" y="3282696"/>
            <a:ext cx="11457432" cy="566928"/>
          </a:xfrm>
          <a:prstGeom prst="rect">
            <a:avLst/>
          </a:prstGeom>
          <a:solidFill>
            <a:srgbClr val="E8EE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21792" y="3282696"/>
            <a:ext cx="2633472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 i="0">
                <a:solidFill>
                  <a:srgbClr val="1B2A4A"/>
                </a:solidFill>
                <a:latin typeface="Calibri"/>
              </a:rPr>
              <a:t>Synthetic-identity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456432" y="3282696"/>
            <a:ext cx="1764791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 i="0">
                <a:solidFill>
                  <a:srgbClr val="1B2A4A"/>
                </a:solidFill>
                <a:latin typeface="Calibri"/>
              </a:rPr>
              <a:t>60.7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422392" y="3282696"/>
            <a:ext cx="1856232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 i="0">
                <a:solidFill>
                  <a:srgbClr val="1B2A4A"/>
                </a:solidFill>
                <a:latin typeface="Calibri"/>
              </a:rPr>
              <a:t>99.9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479792" y="3282696"/>
            <a:ext cx="1673352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 i="0">
                <a:solidFill>
                  <a:srgbClr val="1B2A4A"/>
                </a:solidFill>
                <a:latin typeface="Calibri"/>
              </a:rPr>
              <a:t>15.2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354312" y="3282696"/>
            <a:ext cx="1490472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 i="0">
                <a:solidFill>
                  <a:srgbClr val="1B2A4A"/>
                </a:solidFill>
                <a:latin typeface="Calibri"/>
              </a:rPr>
              <a:t>32.4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1045952" y="3282696"/>
            <a:ext cx="923543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 i="0">
                <a:solidFill>
                  <a:srgbClr val="1B2A4A"/>
                </a:solidFill>
                <a:latin typeface="Calibri"/>
              </a:rPr>
              <a:t>17.2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548640" y="4114800"/>
            <a:ext cx="11457432" cy="2148840"/>
          </a:xfrm>
          <a:prstGeom prst="roundRect">
            <a:avLst>
              <a:gd name="adj" fmla="val 5000"/>
            </a:avLst>
          </a:prstGeom>
          <a:solidFill>
            <a:srgbClr val="121D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868680" y="4297680"/>
            <a:ext cx="107899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i="0">
                <a:solidFill>
                  <a:srgbClr val="2FBF9F"/>
                </a:solidFill>
                <a:latin typeface="Calibri"/>
              </a:rPr>
              <a:t>TAKEAWAY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68680" y="4663440"/>
            <a:ext cx="10789920" cy="1463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marL="228600" indent="-228600">
              <a:lnSpc>
                <a:spcPct val="115000"/>
              </a:lnSpc>
              <a:spcAft>
                <a:spcPts val="1000"/>
              </a:spcAft>
              <a:buClr>
                <a:srgbClr val="2FBF9F"/>
              </a:buClr>
              <a:buFont typeface="Arial"/>
              <a:buChar char="•"/>
            </a:pPr>
            <a:r>
              <a:rPr sz="1200">
                <a:solidFill>
                  <a:srgbClr val="CFDCEA"/>
                </a:solidFill>
                <a:latin typeface="Calibri"/>
              </a:rPr>
              <a:t>The plain instructional prompt wins on every single metric — few-shot examples and a synthetic-identity rewrite both underperform it</a:t>
            </a:r>
          </a:p>
          <a:p>
            <a:pPr marL="228600" indent="-228600">
              <a:lnSpc>
                <a:spcPct val="115000"/>
              </a:lnSpc>
              <a:spcAft>
                <a:spcPts val="1000"/>
              </a:spcAft>
              <a:buClr>
                <a:srgbClr val="2FBF9F"/>
              </a:buClr>
              <a:buFont typeface="Arial"/>
              <a:buChar char="•"/>
            </a:pPr>
            <a:r>
              <a:rPr sz="1200">
                <a:solidFill>
                  <a:srgbClr val="CFDCEA"/>
                </a:solidFill>
                <a:latin typeface="Calibri"/>
              </a:rPr>
              <a:t>Synthetic-identity prompting backfires on privacy specifically: asking the model to “invent a consistent fake identity” makes it keep more specific-sounding detail (60.7% PII removed vs. 85.0%), even though it still preserves clinical content well</a:t>
            </a:r>
          </a:p>
          <a:p>
            <a:pPr marL="228600" indent="-228600">
              <a:lnSpc>
                <a:spcPct val="115000"/>
              </a:lnSpc>
              <a:spcAft>
                <a:spcPts val="1000"/>
              </a:spcAft>
              <a:buClr>
                <a:srgbClr val="2FBF9F"/>
              </a:buClr>
              <a:buFont typeface="Arial"/>
              <a:buChar char="•"/>
            </a:pPr>
            <a:r>
              <a:rPr sz="1200">
                <a:solidFill>
                  <a:srgbClr val="CFDCEA"/>
                </a:solidFill>
                <a:latin typeface="Calibri"/>
              </a:rPr>
              <a:t>Prompt engineering alone did not beat the simple, direct instruction on this task — further gains likely require fine-tuning or a stronger base model, not prompt rewording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1368735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1000" b="0" i="0">
                <a:solidFill>
                  <a:srgbClr val="5A6678"/>
                </a:solidFill>
                <a:latin typeface="Calibri"/>
              </a:rPr>
              <a:t>5 / 8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57200"/>
            <a:ext cx="73152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i="0">
                <a:solidFill>
                  <a:srgbClr val="1E8F76"/>
                </a:solidFill>
                <a:latin typeface="Calibri"/>
              </a:rPr>
              <a:t>06  —  LIMITATIONS &amp; DATA QUALITY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777240"/>
            <a:ext cx="105156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600" b="1" i="0">
                <a:solidFill>
                  <a:srgbClr val="1B2A4A"/>
                </a:solidFill>
                <a:latin typeface="Cambria"/>
              </a:rPr>
              <a:t>What we know is imperfect about these numbers</a:t>
            </a:r>
          </a:p>
        </p:txBody>
      </p:sp>
      <p:sp>
        <p:nvSpPr>
          <p:cNvPr id="4" name="Oval 3"/>
          <p:cNvSpPr/>
          <p:nvPr/>
        </p:nvSpPr>
        <p:spPr>
          <a:xfrm>
            <a:off x="548640" y="1691640"/>
            <a:ext cx="365760" cy="365760"/>
          </a:xfrm>
          <a:prstGeom prst="ellipse">
            <a:avLst/>
          </a:prstGeom>
          <a:solidFill>
            <a:srgbClr val="E86A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  <a:r>
              <a:rPr sz="1400" b="1">
                <a:solidFill>
                  <a:srgbClr val="FFFFFF"/>
                </a:solidFill>
                <a:latin typeface="Calibri"/>
              </a:rPr>
              <a:t>!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97280" y="1645920"/>
            <a:ext cx="228600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1250" b="1" i="0">
                <a:solidFill>
                  <a:srgbClr val="1B2A4A"/>
                </a:solidFill>
                <a:latin typeface="Calibri"/>
              </a:rPr>
              <a:t>Dataset scale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520440" y="1627632"/>
            <a:ext cx="81381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1050" b="0" i="0">
                <a:solidFill>
                  <a:srgbClr val="5A6678"/>
                </a:solidFill>
                <a:latin typeface="Calibri"/>
              </a:rPr>
              <a:t>878 synthetic patients — limited by generation API cost/time. Distributional balance across 10 disorders (68–106 patients each) is preserved. Could be scaled up further.</a:t>
            </a:r>
          </a:p>
        </p:txBody>
      </p:sp>
      <p:sp>
        <p:nvSpPr>
          <p:cNvPr id="7" name="Oval 6"/>
          <p:cNvSpPr/>
          <p:nvPr/>
        </p:nvSpPr>
        <p:spPr>
          <a:xfrm>
            <a:off x="548640" y="2624328"/>
            <a:ext cx="365760" cy="365760"/>
          </a:xfrm>
          <a:prstGeom prst="ellipse">
            <a:avLst/>
          </a:prstGeom>
          <a:solidFill>
            <a:srgbClr val="E86A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  <a:r>
              <a:rPr sz="1400" b="1">
                <a:solidFill>
                  <a:srgbClr val="FFFFFF"/>
                </a:solidFill>
                <a:latin typeface="Calibri"/>
              </a:rPr>
              <a:t>!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97280" y="2578608"/>
            <a:ext cx="228600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1250" b="1" i="0">
                <a:solidFill>
                  <a:srgbClr val="1B2A4A"/>
                </a:solidFill>
                <a:latin typeface="Calibri"/>
              </a:rPr>
              <a:t>API error rows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520440" y="2560320"/>
            <a:ext cx="81381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1050" b="0" i="0">
                <a:solidFill>
                  <a:srgbClr val="5A6678"/>
                </a:solidFill>
                <a:latin typeface="Calibri"/>
              </a:rPr>
              <a:t>GPT-4o: 119/878 (13.6%) and DeepSeek-V4-Pro: ~86/878 (9.8%) rows failed on transient Azure/OpenAI errors and are excluded from that model's percentages, not treated as anonymization failures.</a:t>
            </a:r>
          </a:p>
        </p:txBody>
      </p:sp>
      <p:sp>
        <p:nvSpPr>
          <p:cNvPr id="10" name="Oval 9"/>
          <p:cNvSpPr/>
          <p:nvPr/>
        </p:nvSpPr>
        <p:spPr>
          <a:xfrm>
            <a:off x="548640" y="3557016"/>
            <a:ext cx="365760" cy="365760"/>
          </a:xfrm>
          <a:prstGeom prst="ellipse">
            <a:avLst/>
          </a:prstGeom>
          <a:solidFill>
            <a:srgbClr val="E86A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  <a:r>
              <a:rPr sz="1400" b="1">
                <a:solidFill>
                  <a:srgbClr val="FFFFFF"/>
                </a:solidFill>
                <a:latin typeface="Calibri"/>
              </a:rPr>
              <a:t>!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97280" y="3511296"/>
            <a:ext cx="228600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1250" b="1" i="0">
                <a:solidFill>
                  <a:srgbClr val="1B2A4A"/>
                </a:solidFill>
                <a:latin typeface="Calibri"/>
              </a:rPr>
              <a:t>gpt-5-mini incomplete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520440" y="3493008"/>
            <a:ext cx="81381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1050" b="0" i="0">
                <a:solidFill>
                  <a:srgbClr val="5A6678"/>
                </a:solidFill>
                <a:latin typeface="Calibri"/>
              </a:rPr>
              <a:t>657/878 (75%) rows failed on parameter-support errors that were only partially self-healed at runtime. Excluded entirely from headline results; left as documented future work.</a:t>
            </a:r>
          </a:p>
        </p:txBody>
      </p:sp>
      <p:sp>
        <p:nvSpPr>
          <p:cNvPr id="13" name="Oval 12"/>
          <p:cNvSpPr/>
          <p:nvPr/>
        </p:nvSpPr>
        <p:spPr>
          <a:xfrm>
            <a:off x="548640" y="4489704"/>
            <a:ext cx="365760" cy="365760"/>
          </a:xfrm>
          <a:prstGeom prst="ellipse">
            <a:avLst/>
          </a:prstGeom>
          <a:solidFill>
            <a:srgbClr val="E86A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  <a:r>
              <a:rPr sz="1400" b="1">
                <a:solidFill>
                  <a:srgbClr val="FFFFFF"/>
                </a:solidFill>
                <a:latin typeface="Calibri"/>
              </a:rPr>
              <a:t>!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97280" y="4443984"/>
            <a:ext cx="228600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1250" b="1" i="0">
                <a:solidFill>
                  <a:srgbClr val="1B2A4A"/>
                </a:solidFill>
                <a:latin typeface="Calibri"/>
              </a:rPr>
              <a:t>BERTScore floor effect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520440" y="4425696"/>
            <a:ext cx="81381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1050" b="0" i="0">
                <a:solidFill>
                  <a:srgbClr val="5A6678"/>
                </a:solidFill>
                <a:latin typeface="Calibri"/>
              </a:rPr>
              <a:t>PQ and CQ BERTScore cluster tightly (0.886–0.911) regardless of real content overlap — short answers (e.g. “Not mentioned.”) score unexpectedly close to detailed ground truth under roberta-large embeddings. The binary LLM-judge is the more trustworthy metric for this reason.</a:t>
            </a:r>
          </a:p>
        </p:txBody>
      </p:sp>
      <p:sp>
        <p:nvSpPr>
          <p:cNvPr id="16" name="Oval 15"/>
          <p:cNvSpPr/>
          <p:nvPr/>
        </p:nvSpPr>
        <p:spPr>
          <a:xfrm>
            <a:off x="548640" y="5422392"/>
            <a:ext cx="365760" cy="365760"/>
          </a:xfrm>
          <a:prstGeom prst="ellipse">
            <a:avLst/>
          </a:prstGeom>
          <a:solidFill>
            <a:srgbClr val="E86A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  <a:r>
              <a:rPr sz="1400" b="1">
                <a:solidFill>
                  <a:srgbClr val="FFFFFF"/>
                </a:solidFill>
                <a:latin typeface="Calibri"/>
              </a:rPr>
              <a:t>!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97280" y="5376672"/>
            <a:ext cx="228600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1250" b="1" i="0">
                <a:solidFill>
                  <a:srgbClr val="1B2A4A"/>
                </a:solidFill>
                <a:latin typeface="Calibri"/>
              </a:rPr>
              <a:t>LLM-judge sampling &amp; strictness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520440" y="5358384"/>
            <a:ext cx="81381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1050" b="0" i="0">
                <a:solidFill>
                  <a:srgbClr val="5A6678"/>
                </a:solidFill>
                <a:latin typeface="Calibri"/>
              </a:rPr>
              <a:t>Judge scores come from a 50-patient sample per model (not all 878), and apply a strict literal standard to long clinical answers — likely why CQ recoverable % (29–38%) reads lower than the near-complete tag-based clinical retention (95–99.9%).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1368735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1000" b="0" i="0">
                <a:solidFill>
                  <a:srgbClr val="5A6678"/>
                </a:solidFill>
                <a:latin typeface="Calibri"/>
              </a:rPr>
              <a:t>6 / 8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B2A4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57200"/>
            <a:ext cx="73152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i="0">
                <a:solidFill>
                  <a:srgbClr val="1E8F76"/>
                </a:solidFill>
                <a:latin typeface="Calibri"/>
              </a:rPr>
              <a:t>07  —  CONCLUSIONS &amp; FUTURE WORK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777240"/>
            <a:ext cx="105156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600" b="1" i="0">
                <a:solidFill>
                  <a:srgbClr val="FFFFFF"/>
                </a:solidFill>
                <a:latin typeface="Cambria"/>
              </a:rPr>
              <a:t>What we found, and where MindShield goes next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600200"/>
            <a:ext cx="521208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 i="0">
                <a:solidFill>
                  <a:srgbClr val="2FBF9F"/>
                </a:solidFill>
                <a:latin typeface="Calibri"/>
              </a:rPr>
              <a:t>KEY FINDINGS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2011680"/>
            <a:ext cx="5212080" cy="4206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marL="228600" indent="-228600">
              <a:lnSpc>
                <a:spcPct val="115000"/>
              </a:lnSpc>
              <a:spcAft>
                <a:spcPts val="1300"/>
              </a:spcAft>
              <a:buClr>
                <a:srgbClr val="2FBF9F"/>
              </a:buClr>
              <a:buFont typeface="Arial"/>
              <a:buChar char="•"/>
            </a:pPr>
            <a:r>
              <a:rPr sz="1200">
                <a:solidFill>
                  <a:srgbClr val="CFDCEA"/>
                </a:solidFill>
                <a:latin typeface="Calibri"/>
              </a:rPr>
              <a:t>Rephrasing-based anonymization beats entity masking decisively: 99.5% clinical content preserved vs. 68.1% for NER, at comparable or better privacy</a:t>
            </a:r>
          </a:p>
          <a:p>
            <a:pPr marL="228600" indent="-228600">
              <a:lnSpc>
                <a:spcPct val="115000"/>
              </a:lnSpc>
              <a:spcAft>
                <a:spcPts val="1300"/>
              </a:spcAft>
              <a:buClr>
                <a:srgbClr val="2FBF9F"/>
              </a:buClr>
              <a:buFont typeface="Arial"/>
              <a:buChar char="•"/>
            </a:pPr>
            <a:r>
              <a:rPr sz="1200">
                <a:solidFill>
                  <a:srgbClr val="CFDCEA"/>
                </a:solidFill>
                <a:latin typeface="Calibri"/>
              </a:rPr>
              <a:t>Best configuration: Llama-4-Maverick with the plain instructional prompt — 85.0% PII removed, 32.8pp privacy–utility gap on LLM-judge</a:t>
            </a:r>
          </a:p>
          <a:p>
            <a:pPr marL="228600" indent="-228600">
              <a:lnSpc>
                <a:spcPct val="115000"/>
              </a:lnSpc>
              <a:spcAft>
                <a:spcPts val="1300"/>
              </a:spcAft>
              <a:buClr>
                <a:srgbClr val="2FBF9F"/>
              </a:buClr>
              <a:buFont typeface="Arial"/>
              <a:buChar char="•"/>
            </a:pPr>
            <a:r>
              <a:rPr sz="1200">
                <a:solidFill>
                  <a:srgbClr val="CFDCEA"/>
                </a:solidFill>
                <a:latin typeface="Calibri"/>
              </a:rPr>
              <a:t>Prompt engineering (few-shot, synthetic-identity) did not beat the simple instruction — synthetic-identity rephrasing actually leaked more PII</a:t>
            </a:r>
          </a:p>
          <a:p>
            <a:pPr marL="228600" indent="-228600">
              <a:lnSpc>
                <a:spcPct val="115000"/>
              </a:lnSpc>
              <a:spcAft>
                <a:spcPts val="1300"/>
              </a:spcAft>
              <a:buClr>
                <a:srgbClr val="2FBF9F"/>
              </a:buClr>
              <a:buFont typeface="Arial"/>
              <a:buChar char="•"/>
            </a:pPr>
            <a:r>
              <a:rPr sz="1200">
                <a:solidFill>
                  <a:srgbClr val="CFDCEA"/>
                </a:solidFill>
                <a:latin typeface="Calibri"/>
              </a:rPr>
              <a:t>Personal-info recoverability stays low (5–16%) across every model — privacy protection is robust regardless of which model anonymizes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172200" y="1600200"/>
            <a:ext cx="5486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 i="0">
                <a:solidFill>
                  <a:srgbClr val="2FBF9F"/>
                </a:solidFill>
                <a:latin typeface="Calibri"/>
              </a:rPr>
              <a:t>FUTURE WORK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172200" y="2011680"/>
            <a:ext cx="5486400" cy="932688"/>
          </a:xfrm>
          <a:prstGeom prst="roundRect">
            <a:avLst>
              <a:gd name="adj" fmla="val 10000"/>
            </a:avLst>
          </a:prstGeom>
          <a:solidFill>
            <a:srgbClr val="121D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6355080" y="2231136"/>
            <a:ext cx="502920" cy="502920"/>
          </a:xfrm>
          <a:prstGeom prst="ellipse">
            <a:avLst/>
          </a:prstGeom>
          <a:solidFill>
            <a:srgbClr val="2FBF9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  <a:r>
              <a:rPr sz="1800" b="1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995160" y="2139696"/>
            <a:ext cx="4480560" cy="685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100" b="0" i="0">
                <a:solidFill>
                  <a:srgbClr val="FFFFFF"/>
                </a:solidFill>
                <a:latin typeface="Calibri"/>
              </a:rPr>
              <a:t>Scale the synthetic dataset further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172200" y="3090672"/>
            <a:ext cx="5486400" cy="932688"/>
          </a:xfrm>
          <a:prstGeom prst="roundRect">
            <a:avLst>
              <a:gd name="adj" fmla="val 10000"/>
            </a:avLst>
          </a:prstGeom>
          <a:solidFill>
            <a:srgbClr val="121D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6355080" y="3310128"/>
            <a:ext cx="502920" cy="502920"/>
          </a:xfrm>
          <a:prstGeom prst="ellipse">
            <a:avLst/>
          </a:prstGeom>
          <a:solidFill>
            <a:srgbClr val="2FBF9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  <a:r>
              <a:rPr sz="1800" b="1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995160" y="3218688"/>
            <a:ext cx="4480560" cy="685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100" b="0" i="0">
                <a:solidFill>
                  <a:srgbClr val="FFFFFF"/>
                </a:solidFill>
                <a:latin typeface="Calibri"/>
              </a:rPr>
              <a:t>Fix gpt-5-mini parameter support; re-run DeepSeek-V4-Pro's rate-limited rows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172200" y="4169664"/>
            <a:ext cx="5486400" cy="932688"/>
          </a:xfrm>
          <a:prstGeom prst="roundRect">
            <a:avLst>
              <a:gd name="adj" fmla="val 10000"/>
            </a:avLst>
          </a:prstGeom>
          <a:solidFill>
            <a:srgbClr val="121D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6355080" y="4389120"/>
            <a:ext cx="502920" cy="502920"/>
          </a:xfrm>
          <a:prstGeom prst="ellipse">
            <a:avLst/>
          </a:prstGeom>
          <a:solidFill>
            <a:srgbClr val="2FBF9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  <a:r>
              <a:rPr sz="1800" b="1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995160" y="4297680"/>
            <a:ext cx="4480560" cy="685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100" b="0" i="0">
                <a:solidFill>
                  <a:srgbClr val="FFFFFF"/>
                </a:solidFill>
                <a:latin typeface="Calibri"/>
              </a:rPr>
              <a:t>Run the LLM-judge on the full 878-patient set, not a 50-patient sample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172200" y="5248656"/>
            <a:ext cx="5486400" cy="932688"/>
          </a:xfrm>
          <a:prstGeom prst="roundRect">
            <a:avLst>
              <a:gd name="adj" fmla="val 10000"/>
            </a:avLst>
          </a:prstGeom>
          <a:solidFill>
            <a:srgbClr val="121D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6355080" y="5468112"/>
            <a:ext cx="502920" cy="502920"/>
          </a:xfrm>
          <a:prstGeom prst="ellipse">
            <a:avLst/>
          </a:prstGeom>
          <a:solidFill>
            <a:srgbClr val="2FBF9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  <a:r>
              <a:rPr sz="1800" b="1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995160" y="5376672"/>
            <a:ext cx="4480560" cy="685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100" b="0" i="0">
                <a:solidFill>
                  <a:srgbClr val="FFFFFF"/>
                </a:solidFill>
                <a:latin typeface="Calibri"/>
              </a:rPr>
              <a:t>Clinician review of anonymized notes; multilingual extension; fine-tune a smaller self-hosted anonymizer on this benchmark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1368735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1000" b="0" i="0">
                <a:solidFill>
                  <a:srgbClr val="CFDCEA"/>
                </a:solidFill>
                <a:latin typeface="Calibri"/>
              </a:rPr>
              <a:t>7 / 8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