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PII removal vs. clinical retention, by model / prompt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PII removed %</c:v>
                </c:pt>
              </c:strCache>
            </c:strRef>
          </c:tx>
          <c:spPr>
            <a:solidFill>
              <a:srgbClr val="2FBF9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GPT-3.5</c:v>
                </c:pt>
                <c:pt idx="1">
                  <c:v>GPT-4o</c:v>
                </c:pt>
                <c:pt idx="2">
                  <c:v>NER</c:v>
                </c:pt>
                <c:pt idx="3">
                  <c:v>DeepSeek
-V4-Pro</c:v>
                </c:pt>
                <c:pt idx="4">
                  <c:v>Llama-4
(instr.)</c:v>
                </c:pt>
                <c:pt idx="5">
                  <c:v>Llama-4
(few-shot)</c:v>
                </c:pt>
                <c:pt idx="6">
                  <c:v>Llama-4
(synthetic)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66.5</c:v>
                </c:pt>
                <c:pt idx="1">
                  <c:v>64.5</c:v>
                </c:pt>
                <c:pt idx="2">
                  <c:v>53.5</c:v>
                </c:pt>
                <c:pt idx="3">
                  <c:v>73.3</c:v>
                </c:pt>
                <c:pt idx="4">
                  <c:v>85.0</c:v>
                </c:pt>
                <c:pt idx="5">
                  <c:v>80.6</c:v>
                </c:pt>
                <c:pt idx="6">
                  <c:v>60.7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Clinical content preserved %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GPT-3.5</c:v>
                </c:pt>
                <c:pt idx="1">
                  <c:v>GPT-4o</c:v>
                </c:pt>
                <c:pt idx="2">
                  <c:v>NER</c:v>
                </c:pt>
                <c:pt idx="3">
                  <c:v>DeepSeek
-V4-Pro</c:v>
                </c:pt>
                <c:pt idx="4">
                  <c:v>Llama-4
(instr.)</c:v>
                </c:pt>
                <c:pt idx="5">
                  <c:v>Llama-4
(few-shot)</c:v>
                </c:pt>
                <c:pt idx="6">
                  <c:v>Llama-4
(synthetic)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99.6</c:v>
                </c:pt>
                <c:pt idx="1">
                  <c:v>99.8</c:v>
                </c:pt>
                <c:pt idx="2">
                  <c:v>68.1</c:v>
                </c:pt>
                <c:pt idx="3">
                  <c:v>99.9</c:v>
                </c:pt>
                <c:pt idx="4">
                  <c:v>99.5</c:v>
                </c:pt>
                <c:pt idx="5">
                  <c:v>96.0</c:v>
                </c:pt>
                <c:pt idx="6">
                  <c:v>99.9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DCEA"/>
            </a:solidFill>
          </a:ln>
        </c:spPr>
        <c:txPr>
          <a:bodyPr/>
          <a:lstStyle/>
          <a:p>
            <a:pPr>
              <a:defRPr sz="950">
                <a:solidFill>
                  <a:srgbClr val="1B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6350">
              <a:solidFill>
                <a:srgbClr val="CFDC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Personal vs. clinical recoverability, sorted by gap (best → worst)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PQ recoverable % (lower = more private)</c:v>
                </c:pt>
              </c:strCache>
            </c:strRef>
          </c:tx>
          <c:spPr>
            <a:solidFill>
              <a:srgbClr val="E86A5C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Llama-4
(instr.)</c:v>
                </c:pt>
                <c:pt idx="1">
                  <c:v>Llama-4
(few-shot)</c:v>
                </c:pt>
                <c:pt idx="2">
                  <c:v>GPT-3.5</c:v>
                </c:pt>
                <c:pt idx="3">
                  <c:v>GPT-4o</c:v>
                </c:pt>
                <c:pt idx="4">
                  <c:v>DeepSeek
-V4-Pro</c:v>
                </c:pt>
                <c:pt idx="5">
                  <c:v>Llama-4
(synthetic)</c:v>
                </c:pt>
                <c:pt idx="6">
                  <c:v>NER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5.2</c:v>
                </c:pt>
                <c:pt idx="1">
                  <c:v>6.4</c:v>
                </c:pt>
                <c:pt idx="2">
                  <c:v>10.6</c:v>
                </c:pt>
                <c:pt idx="3">
                  <c:v>11.4</c:v>
                </c:pt>
                <c:pt idx="4">
                  <c:v>14.0</c:v>
                </c:pt>
                <c:pt idx="5">
                  <c:v>15.2</c:v>
                </c:pt>
                <c:pt idx="6">
                  <c:v>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CQ recoverable % (higher = more useful)</c:v>
                </c:pt>
              </c:strCache>
            </c:strRef>
          </c:tx>
          <c:spPr>
            <a:solidFill>
              <a:srgbClr val="1E8F76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Llama-4
(instr.)</c:v>
                </c:pt>
                <c:pt idx="1">
                  <c:v>Llama-4
(few-shot)</c:v>
                </c:pt>
                <c:pt idx="2">
                  <c:v>GPT-3.5</c:v>
                </c:pt>
                <c:pt idx="3">
                  <c:v>GPT-4o</c:v>
                </c:pt>
                <c:pt idx="4">
                  <c:v>DeepSeek
-V4-Pro</c:v>
                </c:pt>
                <c:pt idx="5">
                  <c:v>Llama-4
(synthetic)</c:v>
                </c:pt>
                <c:pt idx="6">
                  <c:v>NER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38.0</c:v>
                </c:pt>
                <c:pt idx="1">
                  <c:v>37.9</c:v>
                </c:pt>
                <c:pt idx="2">
                  <c:v>34.6</c:v>
                </c:pt>
                <c:pt idx="3">
                  <c:v>34.0</c:v>
                </c:pt>
                <c:pt idx="4">
                  <c:v>33.7</c:v>
                </c:pt>
                <c:pt idx="5">
                  <c:v>32.4</c:v>
                </c:pt>
                <c:pt idx="6">
                  <c:v>29.0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DCEA"/>
            </a:solidFill>
          </a:ln>
        </c:spPr>
        <c:txPr>
          <a:bodyPr/>
          <a:lstStyle/>
          <a:p>
            <a:pPr>
              <a:defRPr sz="950">
                <a:solidFill>
                  <a:srgbClr val="1B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 w="6350">
              <a:solidFill>
                <a:srgbClr val="CFDC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3474720" cy="3474720"/>
          </a:xfrm>
          <a:prstGeom prst="ellipse">
            <a:avLst/>
          </a:prstGeom>
          <a:solidFill>
            <a:srgbClr val="22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MINDSHIELD  •  FINAL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LLM-Based Anonymization of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Psychiatric Medical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CFDCEA"/>
                </a:solidFill>
                <a:latin typeface="Calibri"/>
              </a:rPr>
              <a:t>Context-aware de-identification via rephrasing, validated with tag-based, QA-based, and LLM-judge scoring.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315968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CEA"/>
                </a:solidFill>
                <a:latin typeface="Calibri"/>
              </a:rPr>
              <a:t>878 patients · 7 model/prompt configurations · 3 validation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5669280" cy="1234440"/>
          </a:xfrm>
          <a:prstGeom prst="roundRect">
            <a:avLst>
              <a:gd name="adj" fmla="val 12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BF9F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0468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Uriel Atzmon  ·  Victoria Chuykina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52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FDCEA"/>
                </a:solidFill>
                <a:latin typeface="Calibri"/>
              </a:rPr>
              <a:t>Instructor: Alexander (Sasha) Apartsin,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01  — 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Five stages, end to end, all complete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1965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Data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9164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74650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878 synthetic patients: 10 personal + 10 clinical Q&amp;A each,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sampled from a 25-question ePII bank and a 100-question DSM-5 bank → LLM-written intake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691640"/>
            <a:ext cx="26517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878 records, 10 disorders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2587752"/>
            <a:ext cx="0" cy="128016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97480"/>
            <a:ext cx="1965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Tagging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69748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5234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LLM span annotation → [[TAG:TEXT]] gold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697480"/>
            <a:ext cx="26517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9,013 tags (7,134 personal / 1,879 clinical), 10.3 / patient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" y="3593592"/>
            <a:ext cx="0" cy="128016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03320"/>
            <a:ext cx="1965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Anonymization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70332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75818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7 successful configurations: GPT-3.5, GPT-4o, NER baseline,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DeepSeek-V4-Pro, Llama-4-Maverick × 3 prompting strategies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03320"/>
            <a:ext cx="26517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PII-removed % / clinical-retained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100" y="4599432"/>
            <a:ext cx="0" cy="128016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09160"/>
            <a:ext cx="1965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70916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76402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Tag-based (exact-match) + QA-based (re-answer 20 Qs, BERTScore)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+ binary LLM-judge (50-patient sample per model)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709160"/>
            <a:ext cx="26517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3 independent, cross-checked metrics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" y="5605272"/>
            <a:ext cx="0" cy="128016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48640" y="580644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715000"/>
            <a:ext cx="1965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571500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576986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Leaderboard ranked by privacy–utility gap = CQ recoverable % − PQ recoverable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715000"/>
            <a:ext cx="26517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Winner: Llama-4-Maverick, instructional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02  — 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What we compared, and how we scored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MODELS COMPARED (ALL 878 PATIENTS)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GPT-3.5-turbo, GPT-4o — instructional prompt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NER baseline — entity masking, no rephrasing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DeepSeek-V4-Pro, Llama-4-Maverick-17B — instructional prompt (Azure AI Foundry)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Llama-4-Maverick — few-shot prompt variant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Llama-4-Maverick — synthetic-identity prompt variant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646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678"/>
                </a:solidFill>
                <a:latin typeface="Calibri"/>
              </a:rPr>
              <a:t>gpt-5-mini: 657/878 rows failed (parameter-support errors) — left as documented future work, not part of headline comparisons.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THREE VALIDATION METHODS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933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Tag-based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32257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8"/>
                </a:solidFill>
                <a:latin typeface="Calibri"/>
              </a:rPr>
              <a:t>Exact-span match: was each tagged PII span removed? Was each tagged clinical span preserved verbatim?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1363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QA-based (BERTScore)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46557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8"/>
                </a:solidFill>
                <a:latin typeface="Calibri"/>
              </a:rPr>
              <a:t>Re-ask all 20 personal/clinical questions against the anonymized text only; score the new answer against the ground truth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297680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793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LLM-judge (binary)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60857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8"/>
                </a:solidFill>
                <a:latin typeface="Calibri"/>
              </a:rPr>
              <a:t>Same 20 questions, but the LLM gives a direct yes/no: is this still recoverable from the note? 50-patient sample per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4864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605272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Headline metric: privacy–utility gap = CQ recoverable % − PQ recoverable % (LLM-judge)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03  —  RESULTS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Tag-based validation, across all 7 configurations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66760" y="1691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READING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205740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Llama-4-Maverick with the instructional prompt removes the most PII (85.0%) while keeping clinical content nearly intact (99.5%)</a:t>
            </a:r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NER masking preserves the least clinical content by far (68.1%) — rephrasing beats blind masking</a:t>
            </a:r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Synthetic-identity prompting removes the least PII (60.7%) of the three Llama-4 variants — inventing a fake identity leaves more specific-sounding detail behind</a:t>
            </a:r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GPT-4o: 119/878 rows errored (API); DeepSeek-V4-Pro: 86/878 (rate limits) — both excluded from these percentages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04  —  RESULTS II  (HEADLINE)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QA-based validation: LLM-judge privacy–utility leaderboard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66760" y="1691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READING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205740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Winner: Llama-4-Maverick, instructional prompt — gap of 32.8pp (PQ 5.2%, CQ 38.0%)</a:t>
            </a:r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Every configuration keeps personal-info recoverability low (5–16%) — privacy protection is solid everywhere</a:t>
            </a:r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CQ sits in a narrower 29–38% band — the judge applies a strict literal-fact standard to long clinical answers; treat tag-based clinical retention (95–99.9%) as the more reliable utility number</a:t>
            </a:r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Sample: 50 patients per model (cost/time), not the full 878</a:t>
            </a:r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050">
                <a:solidFill>
                  <a:srgbClr val="1B2A4A"/>
                </a:solidFill>
                <a:latin typeface="Calibri"/>
              </a:rPr>
              <a:t>Bias check: re-run with an independent judge (gpt-5-mini, no anonymizer overlap) — the winner holds, but “worst” does not (see Limitations)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05  —  PROMPTING STRATEGY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One model, three prompts: does phrasing the instruction differently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457432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Prompt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1691640"/>
            <a:ext cx="17647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PII removed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2392" y="1691640"/>
            <a:ext cx="18562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Clinical preserved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691640"/>
            <a:ext cx="1673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PQ recoverable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4312" y="1691640"/>
            <a:ext cx="1490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CQ recoverable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5952" y="1691640"/>
            <a:ext cx="9235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Gap (pp)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457432" cy="56692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48840"/>
            <a:ext cx="2633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Instructional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148840"/>
            <a:ext cx="1764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85.0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148840"/>
            <a:ext cx="18562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99.5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148840"/>
            <a:ext cx="16733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148840"/>
            <a:ext cx="1490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38.0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2148840"/>
            <a:ext cx="9235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32.8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1145743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715768"/>
            <a:ext cx="2633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Few-shot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15768"/>
            <a:ext cx="1764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80.6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715768"/>
            <a:ext cx="18562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96.0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715768"/>
            <a:ext cx="16733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6.4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715768"/>
            <a:ext cx="1490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37.9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2715768"/>
            <a:ext cx="9235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31.5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82696"/>
            <a:ext cx="11457432" cy="56692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282696"/>
            <a:ext cx="2633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Synthetic-identity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3282696"/>
            <a:ext cx="1764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60.7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3282696"/>
            <a:ext cx="18562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99.9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282696"/>
            <a:ext cx="16733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15.2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282696"/>
            <a:ext cx="1490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32.4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2" y="3282696"/>
            <a:ext cx="9235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A4A"/>
                </a:solidFill>
                <a:latin typeface="Calibri"/>
              </a:rPr>
              <a:t>17.2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114800"/>
            <a:ext cx="11457432" cy="21488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29768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F9F"/>
                </a:solidFill>
                <a:latin typeface="Calibri"/>
              </a:rPr>
              <a:t>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66344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The plain instructional prompt wins on every single metric — few-shot examples and a synthetic-identity rewrite both underperform it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Synthetic-identity prompting backfires on privacy specifically: asking the model to “invent a consistent fake identity” makes it keep more specific-sounding detail (60.7% PII removed vs. 85.0%), even though it still preserves clinical content well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Prompt engineering alone did not beat the simple, direct instruction on this task — further gains likely require fine-tuning or a stronger base model, not prompt rewording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06  —  LIMITATIONS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What we know is imperfect about these numbers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Calibri"/>
              </a:rPr>
              <a:t>Dataset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627632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878 synthetic patients — limited by generation API cost/time. Distributional balance across 10 disorders (68–106 patients each) is preserved. Could be scaled up further.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Calibri"/>
              </a:rPr>
              <a:t>API error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GPT-4o: 119/878 (13.6%) and DeepSeek-V4-Pro: ~86/878 (9.8%) rows failed on transient Azure/OpenAI errors and are excluded from that model's percentages, not treated as anonymization failures.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11296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Calibri"/>
              </a:rPr>
              <a:t>gpt-5-mini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49300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657/878 (75%) rows failed on parameter-support errors that were only partially self-healed at runtime. Excluded entirely from headline results; left as documented future work.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43984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Calibri"/>
              </a:rPr>
              <a:t>BERTScore floor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25696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PQ and CQ BERTScore cluster tightly (0.886–0.911) regardless of real content overlap — short answers (e.g. “Not mentioned.”) score unexpectedly close to detailed ground truth under roberta-large embeddings. The binary LLM-judge is the more trustworthy metric for this reason.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422392"/>
            <a:ext cx="365760" cy="36576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76672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Calibri"/>
              </a:rPr>
              <a:t>LLM-judge sample size &amp; self-preference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358384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50-patient sample, not all 878. The judge (Llama-4-Maverick) is also 3 of the 7 configs it judges — checked with an independent judge (gpt-5-mini, no overlap): the winner holds, but NER is no longer clearly worst (Llama-synthetic is instead).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07  —  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What we found, and where MindShield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BF9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Rephrasing-based anonymization beats entity masking decisively: 99.5% clinical content preserved vs. 68.1% for NER, at comparable or better privacy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Best configuration: Llama-4-Maverick with the plain instructional prompt — 85.0% PII removed, 32.8pp privacy–utility gap on LLM-judge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Prompt engineering (few-shot, synthetic-identity) did not beat the simple instruction — synthetic-identity rephrasing actually leaked more PII</a:t>
            </a:r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Clr>
                <a:srgbClr val="2FBF9F"/>
              </a:buClr>
              <a:buFont typeface="Arial"/>
              <a:buChar char="•"/>
            </a:pPr>
            <a:r>
              <a:rPr sz="1200">
                <a:solidFill>
                  <a:srgbClr val="CFDCEA"/>
                </a:solidFill>
                <a:latin typeface="Calibri"/>
              </a:rPr>
              <a:t>Personal-info recoverability stays low (5–16%) across every model — privacy protection is robust regardless of which model anonymizes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BF9F"/>
                </a:solidFill>
                <a:latin typeface="Calibri"/>
              </a:rPr>
              <a:t>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2231136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139696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Scale the synthetic dataset further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90672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3310128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218688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Fix gpt-5-mini parameter support; re-run DeepSeek-V4-Pro's rate-limited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69664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438912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97680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Run the LLM-judge on the full 878-patient set, not a 50-patient sample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248656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5468112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376672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Clinician review of anonymized notes; multilingual extension; fine-tune a smaller self-hosted anonymizer on this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FDCE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