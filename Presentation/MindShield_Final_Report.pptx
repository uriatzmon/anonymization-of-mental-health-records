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B2A4A"/>
                </a:solidFill>
                <a:latin typeface="Calibri"/>
              </a:rPr>
              <a:t>PII removal vs. clinical retention, by model / prompt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PII removed %</c:v>
                </c:pt>
              </c:strCache>
            </c:strRef>
          </c:tx>
          <c:spPr>
            <a:solidFill>
              <a:srgbClr val="2FBF9F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GPT-3.5</c:v>
                </c:pt>
                <c:pt idx="1">
                  <c:v>GPT-4o</c:v>
                </c:pt>
                <c:pt idx="2">
                  <c:v>NER</c:v>
                </c:pt>
                <c:pt idx="3">
                  <c:v>DeepSeek
-V4-Pro</c:v>
                </c:pt>
                <c:pt idx="4">
                  <c:v>Llama-4
(instr.)</c:v>
                </c:pt>
                <c:pt idx="5">
                  <c:v>Llama-4
(few-shot)</c:v>
                </c:pt>
                <c:pt idx="6">
                  <c:v>Llama-4
(synthetic)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66.5</c:v>
                </c:pt>
                <c:pt idx="1">
                  <c:v>64.5</c:v>
                </c:pt>
                <c:pt idx="2">
                  <c:v>53.5</c:v>
                </c:pt>
                <c:pt idx="3">
                  <c:v>73.3</c:v>
                </c:pt>
                <c:pt idx="4">
                  <c:v>85.0</c:v>
                </c:pt>
                <c:pt idx="5">
                  <c:v>80.6</c:v>
                </c:pt>
                <c:pt idx="6">
                  <c:v>60.7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Clinical content preserved %</c:v>
                </c:pt>
              </c:strCache>
            </c:strRef>
          </c:tx>
          <c:spPr>
            <a:solidFill>
              <a:srgbClr val="1B2A4A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GPT-3.5</c:v>
                </c:pt>
                <c:pt idx="1">
                  <c:v>GPT-4o</c:v>
                </c:pt>
                <c:pt idx="2">
                  <c:v>NER</c:v>
                </c:pt>
                <c:pt idx="3">
                  <c:v>DeepSeek
-V4-Pro</c:v>
                </c:pt>
                <c:pt idx="4">
                  <c:v>Llama-4
(instr.)</c:v>
                </c:pt>
                <c:pt idx="5">
                  <c:v>Llama-4
(few-shot)</c:v>
                </c:pt>
                <c:pt idx="6">
                  <c:v>Llama-4
(synthetic)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99.6</c:v>
                </c:pt>
                <c:pt idx="1">
                  <c:v>99.8</c:v>
                </c:pt>
                <c:pt idx="2">
                  <c:v>68.1</c:v>
                </c:pt>
                <c:pt idx="3">
                  <c:v>99.9</c:v>
                </c:pt>
                <c:pt idx="4">
                  <c:v>99.5</c:v>
                </c:pt>
                <c:pt idx="5">
                  <c:v>96.0</c:v>
                </c:pt>
                <c:pt idx="6">
                  <c:v>99.9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85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CEA"/>
            </a:solidFill>
          </a:ln>
        </c:spPr>
        <c:txPr>
          <a:bodyPr/>
          <a:lstStyle/>
          <a:p>
            <a:pPr>
              <a:defRPr sz="950">
                <a:solidFill>
                  <a:srgbClr val="1B2A4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>
          <c:spPr>
            <a:ln w="6350">
              <a:solidFill>
                <a:srgbClr val="CFDC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678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B2A4A"/>
                </a:solidFill>
                <a:latin typeface="Calibri"/>
              </a:rPr>
              <a:t>Personal vs. clinical recoverability, sorted by gap (best → worst)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PQ recoverable % (lower = more private)</c:v>
                </c:pt>
              </c:strCache>
            </c:strRef>
          </c:tx>
          <c:spPr>
            <a:solidFill>
              <a:srgbClr val="E86A5C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Llama-4
(instr.)</c:v>
                </c:pt>
                <c:pt idx="1">
                  <c:v>Llama-4
(few-shot)</c:v>
                </c:pt>
                <c:pt idx="2">
                  <c:v>GPT-3.5</c:v>
                </c:pt>
                <c:pt idx="3">
                  <c:v>GPT-4o</c:v>
                </c:pt>
                <c:pt idx="4">
                  <c:v>DeepSeek
-V4-Pro</c:v>
                </c:pt>
                <c:pt idx="5">
                  <c:v>Llama-4
(synthetic)</c:v>
                </c:pt>
                <c:pt idx="6">
                  <c:v>NER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5.2</c:v>
                </c:pt>
                <c:pt idx="1">
                  <c:v>6.4</c:v>
                </c:pt>
                <c:pt idx="2">
                  <c:v>10.6</c:v>
                </c:pt>
                <c:pt idx="3">
                  <c:v>11.4</c:v>
                </c:pt>
                <c:pt idx="4">
                  <c:v>14.0</c:v>
                </c:pt>
                <c:pt idx="5">
                  <c:v>15.2</c:v>
                </c:pt>
                <c:pt idx="6">
                  <c:v>15.6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CQ recoverable % (higher = more useful)</c:v>
                </c:pt>
              </c:strCache>
            </c:strRef>
          </c:tx>
          <c:spPr>
            <a:solidFill>
              <a:srgbClr val="1E8F76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Llama-4
(instr.)</c:v>
                </c:pt>
                <c:pt idx="1">
                  <c:v>Llama-4
(few-shot)</c:v>
                </c:pt>
                <c:pt idx="2">
                  <c:v>GPT-3.5</c:v>
                </c:pt>
                <c:pt idx="3">
                  <c:v>GPT-4o</c:v>
                </c:pt>
                <c:pt idx="4">
                  <c:v>DeepSeek
-V4-Pro</c:v>
                </c:pt>
                <c:pt idx="5">
                  <c:v>Llama-4
(synthetic)</c:v>
                </c:pt>
                <c:pt idx="6">
                  <c:v>NER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38.0</c:v>
                </c:pt>
                <c:pt idx="1">
                  <c:v>37.9</c:v>
                </c:pt>
                <c:pt idx="2">
                  <c:v>34.6</c:v>
                </c:pt>
                <c:pt idx="3">
                  <c:v>34.0</c:v>
                </c:pt>
                <c:pt idx="4">
                  <c:v>33.7</c:v>
                </c:pt>
                <c:pt idx="5">
                  <c:v>32.4</c:v>
                </c:pt>
                <c:pt idx="6">
                  <c:v>29.0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85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DCEA"/>
            </a:solidFill>
          </a:ln>
        </c:spPr>
        <c:txPr>
          <a:bodyPr/>
          <a:lstStyle/>
          <a:p>
            <a:pPr>
              <a:defRPr sz="950">
                <a:solidFill>
                  <a:srgbClr val="1B2A4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.0"/>
          <c:min val="0.0"/>
        </c:scaling>
        <c:delete val="0"/>
        <c:axPos val="l"/>
        <c:majorGridlines>
          <c:spPr>
            <a:ln w="6350">
              <a:solidFill>
                <a:srgbClr val="CFDC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5A6678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280160"/>
            <a:ext cx="5029200" cy="5029200"/>
          </a:xfrm>
          <a:prstGeom prst="ellipse">
            <a:avLst/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548640"/>
            <a:ext cx="3474720" cy="3474720"/>
          </a:xfrm>
          <a:prstGeom prst="ellipse">
            <a:avLst/>
          </a:prstGeom>
          <a:solidFill>
            <a:srgbClr val="2235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MINDSHIELD  •  FINAL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9875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LLM-Based Anonymization of</a:t>
            </a:r>
          </a:p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Psychiatric Medical Records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429000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1">
                <a:solidFill>
                  <a:srgbClr val="CFDCEA"/>
                </a:solidFill>
                <a:latin typeface="Calibri"/>
              </a:rPr>
              <a:t>Context-aware de-identification via rephrasing, validated with tag-based, QA-based, and LLM-judge scoring.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429768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4315968"/>
            <a:ext cx="5486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CFDCEA"/>
                </a:solidFill>
                <a:latin typeface="Calibri"/>
              </a:rPr>
              <a:t>878 patients · 7 model/prompt configurations · 3 validation methods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5074920"/>
            <a:ext cx="5669280" cy="1234440"/>
          </a:xfrm>
          <a:prstGeom prst="roundRect">
            <a:avLst>
              <a:gd name="adj" fmla="val 12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230368"/>
            <a:ext cx="5212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FBF9F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504688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Uriel Atzmon  ·  Victoria Chuykina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85216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CFDCEA"/>
                </a:solidFill>
                <a:latin typeface="Calibri"/>
              </a:rPr>
              <a:t>Instructor: Alexander (Sasha) Apartsin, PhD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01  — 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Five stages, end to end, all complete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9164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Data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40" y="169164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0" y="174650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878 synthetic patients: 10 personal + 10 clinical Q&amp;A each,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sampled from a 25-question ePII bank and a 100-question DSM-5 bank → LLM-written intake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06840" y="169164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878 records, 10 disorders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00100" y="258775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9748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Tagging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269748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275234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LLM span annotation → [[TAG:TEXT]] gold standard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6840" y="269748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9,013 tags total (7,134 personal / 1,839 clinical / 40 other, excluded from validation), 10.3 / patient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00100" y="359359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48640" y="379476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0332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Anonymization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370332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375818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7 successful configurations: GPT-3.5, GPT-4o, NER baseline,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DeepSeek-V4-Pro, Llama-4-Maverick × 3 prompting strategies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370332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PII-removed % / clinical-retained 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00100" y="459943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70916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Validation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470916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74720" y="476402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Tag-based (exact-match) + QA-based (re-answer 20 Qs, BERTScore)</a:t>
            </a:r>
          </a:p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+ binary LLM-judge (50-patient sample per model)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470916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3 independent, cross-checked metrics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00100" y="5605272"/>
            <a:ext cx="0" cy="128016"/>
          </a:xfrm>
          <a:prstGeom prst="line">
            <a:avLst/>
          </a:prstGeom>
          <a:ln w="25400">
            <a:solidFill>
              <a:srgbClr val="CFDC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48640" y="580644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4440" y="5715000"/>
            <a:ext cx="19659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Result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5715000"/>
            <a:ext cx="5532120" cy="786384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0" y="5769864"/>
            <a:ext cx="521208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1B2A4A"/>
                </a:solidFill>
                <a:latin typeface="Calibri"/>
              </a:rPr>
              <a:t>Leaderboard ranked by privacy–utility gap = CQ recoverable % − PQ recoverable 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715000"/>
            <a:ext cx="265176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A6678"/>
                </a:solidFill>
                <a:latin typeface="Calibri"/>
              </a:rPr>
              <a:t>Winner: Llama-4-Maverick, instructional prompt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1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02  —  EXPERIMENTAL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What we compared, and how we scored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A"/>
                </a:solidFill>
                <a:latin typeface="Calibri"/>
              </a:rPr>
              <a:t>MODELS COMPARED (ALL 878 PATIENTS)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GPT-3.5-turbo, GPT-4o — instructional prompt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NER baseline — entity masking, no rephrasing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DeepSeek-V4-Pro, Llama-4-Maverick-17B — instructional prompt (Azure AI Foundry)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Llama-4-Maverick — few-shot prompt variant</a:t>
            </a:r>
          </a:p>
          <a:p>
            <a:pPr marL="228600" indent="-228600">
              <a:lnSpc>
                <a:spcPct val="108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250">
                <a:solidFill>
                  <a:srgbClr val="1B2A4A"/>
                </a:solidFill>
                <a:latin typeface="Calibri"/>
              </a:rPr>
              <a:t>Llama-4-Maverick — synthetic-identity prompt variant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709160"/>
            <a:ext cx="5394960" cy="1463040"/>
          </a:xfrm>
          <a:prstGeom prst="roundRect">
            <a:avLst>
              <a:gd name="adj" fmla="val 6000"/>
            </a:avLst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86460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EXCLUDED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166360"/>
            <a:ext cx="4937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gpt-5-mini: 657/878 rows failed (parameter-support errors) — left as documented future work, not part of headline comparisons.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60020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B2A4A"/>
                </a:solidFill>
                <a:latin typeface="Calibri"/>
              </a:rPr>
              <a:t>THREE VALIDATION METHODS</a:t>
            </a:r>
          </a:p>
        </p:txBody>
      </p:sp>
      <p:sp>
        <p:nvSpPr>
          <p:cNvPr id="10" name="Oval 9"/>
          <p:cNvSpPr/>
          <p:nvPr/>
        </p:nvSpPr>
        <p:spPr>
          <a:xfrm>
            <a:off x="6263640" y="2011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9933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Tag-based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03720" y="232257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Exact-span match: was each tagged PII span removed? Was each tagged clinical span preserved verbatim?</a:t>
            </a:r>
          </a:p>
        </p:txBody>
      </p:sp>
      <p:sp>
        <p:nvSpPr>
          <p:cNvPr id="13" name="Oval 12"/>
          <p:cNvSpPr/>
          <p:nvPr/>
        </p:nvSpPr>
        <p:spPr>
          <a:xfrm>
            <a:off x="6263640" y="3154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31363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QA-based (BERTScore)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346557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Re-ask all 20 personal/clinical questions against the anonymized text only; score the new answer against the ground truth</a:t>
            </a:r>
          </a:p>
        </p:txBody>
      </p:sp>
      <p:sp>
        <p:nvSpPr>
          <p:cNvPr id="16" name="Oval 15"/>
          <p:cNvSpPr/>
          <p:nvPr/>
        </p:nvSpPr>
        <p:spPr>
          <a:xfrm>
            <a:off x="6263640" y="4297680"/>
            <a:ext cx="457200" cy="45720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279392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B2A4A"/>
                </a:solidFill>
                <a:latin typeface="Calibri"/>
              </a:rPr>
              <a:t>LLM-judge (binary)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4608576"/>
            <a:ext cx="47548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5A6678"/>
                </a:solidFill>
                <a:latin typeface="Calibri"/>
              </a:rPr>
              <a:t>Same 20 questions, but the LLM gives a direct yes/no: is this still recoverable from the note? 50-patient sample per model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5486400"/>
            <a:ext cx="5394960" cy="7772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5605272"/>
            <a:ext cx="49377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Headline metric: privacy–utility gap = CQ recoverable % − PQ recoverable % (LLM-judge)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03  —  RESULTS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Tag-based validation, across all 7 configurations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76809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66760" y="169164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READING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2057400"/>
            <a:ext cx="3291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Llama-4-Maverick with the instructional prompt removes the most PII (85.0%) while keeping clinical content nearly intact (99.5%)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NER masking preserves the least clinical content by far (68.1%) — rephrasing beats blind masking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Synthetic-identity prompting removes the least PII (60.7%) of the three Llama-4 variants — inventing a fake identity leaves more specific-sounding detail behind</a:t>
            </a:r>
          </a:p>
          <a:p>
            <a:pPr marL="228600" indent="-228600">
              <a:lnSpc>
                <a:spcPct val="112000"/>
              </a:lnSpc>
              <a:spcAft>
                <a:spcPts val="9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GPT-4o: 119/878 rows errored (API); DeepSeek-V4-Pro: 86/878 (rate limits) — both excluded from these percentages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04  —  RESULTS II  (HEADLINE)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QA-based validation: LLM-judge privacy–utility leaderboard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600200"/>
          <a:ext cx="768096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366760" y="1691640"/>
            <a:ext cx="3291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1B2A4A"/>
                </a:solidFill>
                <a:latin typeface="Calibri"/>
              </a:rPr>
              <a:t>READING THIS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66760" y="2057400"/>
            <a:ext cx="329184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0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Winner: Llama-4-Maverick, instructional prompt — gap of 32.8pp (PQ 5.2%, CQ 38.0%)</a:t>
            </a:r>
          </a:p>
          <a:p>
            <a:pPr marL="228600" indent="-228600">
              <a:lnSpc>
                <a:spcPct val="110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Every configuration keeps personal-info recoverability low (5–16%) — privacy protection is solid everywhere</a:t>
            </a:r>
          </a:p>
          <a:p>
            <a:pPr marL="228600" indent="-228600">
              <a:lnSpc>
                <a:spcPct val="110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CQ sits in a narrower 29–38% band — the judge applies a strict literal-fact standard to long clinical answers; treat tag-based clinical retention (95–99.9%) as the more reliable utility number</a:t>
            </a:r>
          </a:p>
          <a:p>
            <a:pPr marL="228600" indent="-228600">
              <a:lnSpc>
                <a:spcPct val="110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Sample: 50 patients per model (cost/time), not the full 878</a:t>
            </a:r>
          </a:p>
          <a:p>
            <a:pPr marL="228600" indent="-228600">
              <a:lnSpc>
                <a:spcPct val="110000"/>
              </a:lnSpc>
              <a:spcAft>
                <a:spcPts val="800"/>
              </a:spcAft>
              <a:buClr>
                <a:srgbClr val="1E8F76"/>
              </a:buClr>
              <a:buFont typeface="Arial"/>
              <a:buChar char="•"/>
            </a:pPr>
            <a:r>
              <a:rPr sz="1050">
                <a:solidFill>
                  <a:srgbClr val="1B2A4A"/>
                </a:solidFill>
                <a:latin typeface="Calibri"/>
              </a:rPr>
              <a:t>Bias check: re-run with an independent judge (gpt-5-mini, no anonymizer overlap) — the winner holds, but “worst” does not (see Limitations)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05  —  PROMPTING STRATEGY ABLATION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One model, three prompts: does phrasing the instruction differently help?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691640"/>
            <a:ext cx="11457432" cy="45720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91640"/>
            <a:ext cx="2633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Prompt variant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6432" y="1691640"/>
            <a:ext cx="1764791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PII removed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22392" y="1691640"/>
            <a:ext cx="185623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Clinical preserved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79792" y="1691640"/>
            <a:ext cx="16733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PQ recoverable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54312" y="1691640"/>
            <a:ext cx="149047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CQ recoverable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5952" y="1691640"/>
            <a:ext cx="923543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Gap (pp)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11457432" cy="566928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148840"/>
            <a:ext cx="2633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B2A4A"/>
                </a:solidFill>
                <a:latin typeface="Calibri"/>
              </a:rPr>
              <a:t>Instructional (baseline)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2148840"/>
            <a:ext cx="176479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85.0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22392" y="2148840"/>
            <a:ext cx="18562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99.5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9792" y="2148840"/>
            <a:ext cx="16733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5.2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54312" y="2148840"/>
            <a:ext cx="1490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38.0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5952" y="2148840"/>
            <a:ext cx="9235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32.8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715768"/>
            <a:ext cx="11457432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2715768"/>
            <a:ext cx="2633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Few-shot 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2715768"/>
            <a:ext cx="176479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80.6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2392" y="2715768"/>
            <a:ext cx="18562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96.0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79792" y="2715768"/>
            <a:ext cx="16733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6.4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54312" y="2715768"/>
            <a:ext cx="1490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37.9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5952" y="2715768"/>
            <a:ext cx="9235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282696"/>
            <a:ext cx="11457432" cy="566928"/>
          </a:xfrm>
          <a:prstGeom prst="rect">
            <a:avLst/>
          </a:prstGeom>
          <a:solidFill>
            <a:srgbClr val="E8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1792" y="3282696"/>
            <a:ext cx="2633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Synthetic-identity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3282696"/>
            <a:ext cx="1764791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60.7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22392" y="3282696"/>
            <a:ext cx="185623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99.9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9792" y="3282696"/>
            <a:ext cx="167335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15.2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54312" y="3282696"/>
            <a:ext cx="149047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32.4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45952" y="3282696"/>
            <a:ext cx="92354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1B2A4A"/>
                </a:solidFill>
                <a:latin typeface="Calibri"/>
              </a:rPr>
              <a:t>17.2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114800"/>
            <a:ext cx="11457432" cy="2148840"/>
          </a:xfrm>
          <a:prstGeom prst="roundRect">
            <a:avLst>
              <a:gd name="adj" fmla="val 5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42976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FBF9F"/>
                </a:solidFill>
                <a:latin typeface="Calibri"/>
              </a:rPr>
              <a:t>TAKEAWAY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466344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The plain instructional prompt wins on every single metric — few-shot examples and a synthetic-identity rewrite both underperform it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Synthetic-identity prompting backfires on privacy specifically: asking the model to “invent a consistent fake identity” makes it keep more specific-sounding detail (60.7% PII removed vs. 85.0%), even though it still preserves clinical content well</a:t>
            </a:r>
          </a:p>
          <a:p>
            <a:pPr marL="228600" indent="-228600">
              <a:lnSpc>
                <a:spcPct val="115000"/>
              </a:lnSpc>
              <a:spcAft>
                <a:spcPts val="10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Prompt engineering alone did not beat the simple, direct instruction on this task — further gains likely require fine-tuning or a stronger base model, not prompt rewording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06  —  LIMITATIONS &amp; DATA QUALITY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1B2A4A"/>
                </a:solidFill>
                <a:latin typeface="Cambria"/>
              </a:rPr>
              <a:t>What we know is imperfect about these numbers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691640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Dataset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20440" y="1627632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878 synthetic patients — limited by generation API cost/time. Distributional balance across 10 disorders (68–106 patients each) is preserved. Could be scaled up further.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24328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78608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API error rows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40" y="2560320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GPT-4o: 119/878 (13.6%) and DeepSeek-V4-Pro: ~86/878 (9.8%) rows failed on transient Azure/OpenAI errors and are excluded from that model's percentages, not treated as anonymization failures.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57016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11296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gpt-5-mini incomplete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3493008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657/878 (75%) rows failed on parameter-support errors that were only partially self-healed at runtime. Excluded entirely from headline results; left as documented future work.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89704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443984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BERTScore floor effect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4425696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PQ and CQ BERTScore cluster tightly (0.886–0.911) regardless of real content overlap — short answers (e.g. “Not mentioned.”) score unexpectedly close to detailed ground truth under roberta-large embeddings. The binary LLM-judge is the more trustworthy metric for this reason.</a:t>
            </a:r>
          </a:p>
        </p:txBody>
      </p:sp>
      <p:sp>
        <p:nvSpPr>
          <p:cNvPr id="16" name="Oval 15"/>
          <p:cNvSpPr/>
          <p:nvPr/>
        </p:nvSpPr>
        <p:spPr>
          <a:xfrm>
            <a:off x="548640" y="5422392"/>
            <a:ext cx="365760" cy="365760"/>
          </a:xfrm>
          <a:prstGeom prst="ellipse">
            <a:avLst/>
          </a:prstGeom>
          <a:solidFill>
            <a:srgbClr val="E86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376672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1B2A4A"/>
                </a:solidFill>
                <a:latin typeface="Calibri"/>
              </a:rPr>
              <a:t>LLM-judge sample size &amp; self-preference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5358384"/>
            <a:ext cx="8138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5A6678"/>
                </a:solidFill>
                <a:latin typeface="Calibri"/>
              </a:rPr>
              <a:t>50-patient sample, not all 878. The judge (Llama-4-Maverick) is also 3 of the 7 configs it judges — checked with an independent judge (gpt-5-mini, no overlap): the winner holds, but NER is no longer clearly worst (Llama-synthetic is instead).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5A6678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E8F76"/>
                </a:solidFill>
                <a:latin typeface="Calibri"/>
              </a:rPr>
              <a:t>07  —  CONCLUSIONS &amp; 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FFFFFF"/>
                </a:solidFill>
                <a:latin typeface="Cambria"/>
              </a:rPr>
              <a:t>What we found, and where MindShield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BF9F"/>
                </a:solidFill>
                <a:latin typeface="Calibri"/>
              </a:rPr>
              <a:t>KEY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521208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Rephrasing-based anonymization beats entity masking decisively: 99.5% clinical content preserved vs. 68.1% for NER, at comparable or better privacy</a:t>
            </a: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Best configuration: Llama-4-Maverick with the plain instructional prompt — 85.0% PII removed, 32.8pp privacy–utility gap on LLM-judge</a:t>
            </a: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Prompt engineering (few-shot, synthetic-identity) did not beat the simple instruction — synthetic-identity rephrasing actually leaked more PII</a:t>
            </a:r>
          </a:p>
          <a:p>
            <a:pPr marL="228600" indent="-228600">
              <a:lnSpc>
                <a:spcPct val="115000"/>
              </a:lnSpc>
              <a:spcAft>
                <a:spcPts val="1300"/>
              </a:spcAft>
              <a:buClr>
                <a:srgbClr val="2FBF9F"/>
              </a:buClr>
              <a:buFont typeface="Arial"/>
              <a:buChar char="•"/>
            </a:pPr>
            <a:r>
              <a:rPr sz="1200">
                <a:solidFill>
                  <a:srgbClr val="CFDCEA"/>
                </a:solidFill>
                <a:latin typeface="Calibri"/>
              </a:rPr>
              <a:t>Personal-info recoverability stays low (5–16%) across every model — privacy protection is robust regardless of which model anonymizes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1600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FBF9F"/>
                </a:solidFill>
                <a:latin typeface="Calibri"/>
              </a:rPr>
              <a:t>FUTURE WORK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2011680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355080" y="2231136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2139696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Scale the synthetic dataset further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090672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55080" y="3310128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95160" y="3218688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Fix gpt-5-mini parameter support; re-run DeepSeek-V4-Pro's rate-limited rows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169664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55080" y="4389120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4297680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Run the LLM-judge on the full 878-patient set, not a 50-patient sample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5248656"/>
            <a:ext cx="5486400" cy="932688"/>
          </a:xfrm>
          <a:prstGeom prst="roundRect">
            <a:avLst>
              <a:gd name="adj" fmla="val 10000"/>
            </a:avLst>
          </a:prstGeom>
          <a:solidFill>
            <a:srgbClr val="12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55080" y="5468112"/>
            <a:ext cx="502920" cy="502920"/>
          </a:xfrm>
          <a:prstGeom prst="ellipse">
            <a:avLst/>
          </a:prstGeom>
          <a:solidFill>
            <a:srgbClr val="2F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5376672"/>
            <a:ext cx="448056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FFFFFF"/>
                </a:solidFill>
                <a:latin typeface="Calibri"/>
              </a:rPr>
              <a:t>Clinician review of anonymized notes; multilingual extension; fine-tune a smaller self-hosted anonymizer on this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FDCEA"/>
                </a:solidFill>
                <a:latin typeface="Calibri"/>
              </a:rPr>
              <a:t>7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